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0" r:id="rId5"/>
    <p:sldId id="261" r:id="rId6"/>
    <p:sldId id="262" r:id="rId7"/>
    <p:sldId id="263" r:id="rId8"/>
    <p:sldId id="264" r:id="rId9"/>
    <p:sldId id="265" r:id="rId10"/>
    <p:sldId id="266" r:id="rId11"/>
  </p:sldIdLst>
  <p:sldSz cx="12192000" cy="6858000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57" d="100"/>
          <a:sy n="57" d="100"/>
        </p:scale>
        <p:origin x="346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 smtClean="0"/>
              <a:t>Haga clic para editar el estilo de subtítulo del patrón</a:t>
            </a:r>
            <a:endParaRPr lang="es-MX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1C296-6FA8-42E9-B473-55702BB6451D}" type="datetimeFigureOut">
              <a:rPr lang="es-MX" smtClean="0"/>
              <a:t>25/05/2026</a:t>
            </a:fld>
            <a:endParaRPr lang="es-MX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9E361-5AFE-4ED3-9447-4358AB20F29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174165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1C296-6FA8-42E9-B473-55702BB6451D}" type="datetimeFigureOut">
              <a:rPr lang="es-MX" smtClean="0"/>
              <a:t>25/05/2026</a:t>
            </a:fld>
            <a:endParaRPr lang="es-MX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9E361-5AFE-4ED3-9447-4358AB20F29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2846717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1C296-6FA8-42E9-B473-55702BB6451D}" type="datetimeFigureOut">
              <a:rPr lang="es-MX" smtClean="0"/>
              <a:t>25/05/2026</a:t>
            </a:fld>
            <a:endParaRPr lang="es-MX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9E361-5AFE-4ED3-9447-4358AB20F29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0815206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1C296-6FA8-42E9-B473-55702BB6451D}" type="datetimeFigureOut">
              <a:rPr lang="es-MX" smtClean="0"/>
              <a:t>25/05/2026</a:t>
            </a:fld>
            <a:endParaRPr lang="es-MX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9E361-5AFE-4ED3-9447-4358AB20F29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7588297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1C296-6FA8-42E9-B473-55702BB6451D}" type="datetimeFigureOut">
              <a:rPr lang="es-MX" smtClean="0"/>
              <a:t>25/05/2026</a:t>
            </a:fld>
            <a:endParaRPr lang="es-MX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9E361-5AFE-4ED3-9447-4358AB20F29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8544009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1C296-6FA8-42E9-B473-55702BB6451D}" type="datetimeFigureOut">
              <a:rPr lang="es-MX" smtClean="0"/>
              <a:t>25/05/2026</a:t>
            </a:fld>
            <a:endParaRPr lang="es-MX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9E361-5AFE-4ED3-9447-4358AB20F29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6256954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1C296-6FA8-42E9-B473-55702BB6451D}" type="datetimeFigureOut">
              <a:rPr lang="es-MX" smtClean="0"/>
              <a:t>25/05/2026</a:t>
            </a:fld>
            <a:endParaRPr lang="es-MX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9E361-5AFE-4ED3-9447-4358AB20F29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8290028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1C296-6FA8-42E9-B473-55702BB6451D}" type="datetimeFigureOut">
              <a:rPr lang="es-MX" smtClean="0"/>
              <a:t>25/05/2026</a:t>
            </a:fld>
            <a:endParaRPr lang="es-MX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9E361-5AFE-4ED3-9447-4358AB20F29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7961253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MX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1C296-6FA8-42E9-B473-55702BB6451D}" type="datetimeFigureOut">
              <a:rPr lang="es-MX" smtClean="0"/>
              <a:t>25/05/2026</a:t>
            </a:fld>
            <a:endParaRPr lang="es-MX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9E361-5AFE-4ED3-9447-4358AB20F29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8459495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1C296-6FA8-42E9-B473-55702BB6451D}" type="datetimeFigureOut">
              <a:rPr lang="es-MX" smtClean="0"/>
              <a:t>25/05/2026</a:t>
            </a:fld>
            <a:endParaRPr lang="es-MX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9E361-5AFE-4ED3-9447-4358AB20F29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0136959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1C296-6FA8-42E9-B473-55702BB6451D}" type="datetimeFigureOut">
              <a:rPr lang="es-MX" smtClean="0"/>
              <a:t>25/05/2026</a:t>
            </a:fld>
            <a:endParaRPr lang="es-MX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9E361-5AFE-4ED3-9447-4358AB20F29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6628342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C1C296-6FA8-42E9-B473-55702BB6451D}" type="datetimeFigureOut">
              <a:rPr lang="es-MX" smtClean="0"/>
              <a:t>25/05/2026</a:t>
            </a:fld>
            <a:endParaRPr lang="es-MX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059E361-5AFE-4ED3-9447-4358AB20F29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4696411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/>
          <p:cNvSpPr/>
          <p:nvPr/>
        </p:nvSpPr>
        <p:spPr>
          <a:xfrm>
            <a:off x="4279900" y="984569"/>
            <a:ext cx="2736508" cy="481413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¿Hay voltaje en los bornes del motor?</a:t>
            </a:r>
          </a:p>
        </p:txBody>
      </p:sp>
      <p:sp>
        <p:nvSpPr>
          <p:cNvPr id="5" name="Elipse 4"/>
          <p:cNvSpPr/>
          <p:nvPr/>
        </p:nvSpPr>
        <p:spPr>
          <a:xfrm>
            <a:off x="2982417" y="984569"/>
            <a:ext cx="681791" cy="481264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Sí</a:t>
            </a:r>
            <a:endParaRPr lang="es-MX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Elipse 5"/>
          <p:cNvSpPr/>
          <p:nvPr/>
        </p:nvSpPr>
        <p:spPr>
          <a:xfrm>
            <a:off x="7626580" y="968527"/>
            <a:ext cx="705852" cy="513348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No</a:t>
            </a:r>
            <a:endParaRPr lang="es-MX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Rectángulo 6"/>
          <p:cNvSpPr/>
          <p:nvPr/>
        </p:nvSpPr>
        <p:spPr>
          <a:xfrm>
            <a:off x="1535501" y="1929071"/>
            <a:ext cx="2436553" cy="400138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¿El contactor est</a:t>
            </a:r>
            <a:r>
              <a:rPr lang="es-MX" sz="1400" dirty="0">
                <a:latin typeface="Arial" panose="020B0604020202020204" pitchFamily="34" charset="0"/>
                <a:cs typeface="Arial" panose="020B0604020202020204" pitchFamily="34" charset="0"/>
              </a:rPr>
              <a:t>á</a:t>
            </a:r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 activo?</a:t>
            </a:r>
            <a:endParaRPr lang="es-MX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Rectángulo 7"/>
          <p:cNvSpPr/>
          <p:nvPr/>
        </p:nvSpPr>
        <p:spPr>
          <a:xfrm>
            <a:off x="1670255" y="4391840"/>
            <a:ext cx="3049236" cy="2255845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just"/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Posibles causas: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Sobrecarga mecánica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Corriente elevada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Desgaste en rodamientos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Rotor bloqueado o eje atascado</a:t>
            </a:r>
          </a:p>
          <a:p>
            <a:pPr algn="just"/>
            <a:endParaRPr lang="es-MX" sz="14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Acción correctiva: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Revisar amperaje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Verificar libre giro del eje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Inspeccionar rodamientos</a:t>
            </a:r>
            <a:endParaRPr lang="es-MX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Rectángulo 8"/>
          <p:cNvSpPr/>
          <p:nvPr/>
        </p:nvSpPr>
        <p:spPr>
          <a:xfrm>
            <a:off x="1305926" y="3260929"/>
            <a:ext cx="2895702" cy="422064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MX" dirty="0" smtClean="0"/>
              <a:t>¿El motor hace zumbido?</a:t>
            </a:r>
            <a:endParaRPr lang="es-MX" dirty="0"/>
          </a:p>
        </p:txBody>
      </p:sp>
      <p:sp>
        <p:nvSpPr>
          <p:cNvPr id="10" name="Rectángulo 9"/>
          <p:cNvSpPr/>
          <p:nvPr/>
        </p:nvSpPr>
        <p:spPr>
          <a:xfrm>
            <a:off x="5807727" y="1706614"/>
            <a:ext cx="2549040" cy="2436965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just"/>
            <a:r>
              <a:rPr lang="es-MX" sz="1400" dirty="0">
                <a:latin typeface="Arial" panose="020B0604020202020204" pitchFamily="34" charset="0"/>
                <a:cs typeface="Arial" panose="020B0604020202020204" pitchFamily="34" charset="0"/>
              </a:rPr>
              <a:t>Posibles </a:t>
            </a:r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causas: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Contactor dañado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Bobina quemada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Falta señal de control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Pulsador esta descompuesto</a:t>
            </a:r>
          </a:p>
          <a:p>
            <a:pPr algn="just"/>
            <a:endParaRPr lang="es-MX" sz="14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Acción correctiva: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Revisar bobina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Revisar </a:t>
            </a:r>
            <a:r>
              <a:rPr lang="es-MX" sz="1400" dirty="0">
                <a:latin typeface="Arial" panose="020B0604020202020204" pitchFamily="34" charset="0"/>
                <a:cs typeface="Arial" panose="020B0604020202020204" pitchFamily="34" charset="0"/>
              </a:rPr>
              <a:t>control 24V/120V</a:t>
            </a:r>
          </a:p>
        </p:txBody>
      </p:sp>
      <p:sp>
        <p:nvSpPr>
          <p:cNvPr id="11" name="Rectángulo 10"/>
          <p:cNvSpPr/>
          <p:nvPr/>
        </p:nvSpPr>
        <p:spPr>
          <a:xfrm>
            <a:off x="9323059" y="-70032"/>
            <a:ext cx="2543359" cy="2590464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Posibles causas: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Falla en suministro de energía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Fusible abierto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Contactor sin accionamiento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Cable suelto </a:t>
            </a:r>
          </a:p>
          <a:p>
            <a:pPr algn="just"/>
            <a:endParaRPr lang="es-MX" sz="14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Acción correctiva: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Revisar fusibles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Revisar breaker</a:t>
            </a:r>
            <a:endParaRPr lang="es-MX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Medir voltajes L1-L2-L3</a:t>
            </a:r>
            <a:endParaRPr lang="es-MX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Elipse 11"/>
          <p:cNvSpPr/>
          <p:nvPr/>
        </p:nvSpPr>
        <p:spPr>
          <a:xfrm>
            <a:off x="557838" y="2536463"/>
            <a:ext cx="580346" cy="444913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Sí</a:t>
            </a:r>
            <a:endParaRPr lang="es-MX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Elipse 12"/>
          <p:cNvSpPr/>
          <p:nvPr/>
        </p:nvSpPr>
        <p:spPr>
          <a:xfrm>
            <a:off x="4406241" y="2704274"/>
            <a:ext cx="677095" cy="465451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No</a:t>
            </a:r>
            <a:endParaRPr lang="es-MX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Rectángulo 22"/>
          <p:cNvSpPr/>
          <p:nvPr/>
        </p:nvSpPr>
        <p:spPr>
          <a:xfrm>
            <a:off x="5969026" y="4698451"/>
            <a:ext cx="2519134" cy="460746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Revisar continuidad del devanado</a:t>
            </a:r>
            <a:endParaRPr lang="es-MX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4" name="Elipse 83"/>
          <p:cNvSpPr/>
          <p:nvPr/>
        </p:nvSpPr>
        <p:spPr>
          <a:xfrm>
            <a:off x="737854" y="4290514"/>
            <a:ext cx="642055" cy="424054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Sí</a:t>
            </a:r>
            <a:endParaRPr lang="es-MX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5" name="Elipse 84"/>
          <p:cNvSpPr/>
          <p:nvPr/>
        </p:nvSpPr>
        <p:spPr>
          <a:xfrm>
            <a:off x="5083336" y="4031208"/>
            <a:ext cx="612184" cy="469105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No</a:t>
            </a:r>
            <a:endParaRPr lang="es-MX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4" name="Rectángulo 163"/>
          <p:cNvSpPr/>
          <p:nvPr/>
        </p:nvSpPr>
        <p:spPr>
          <a:xfrm>
            <a:off x="4510816" y="268451"/>
            <a:ext cx="2210738" cy="421864"/>
          </a:xfrm>
          <a:prstGeom prst="rect">
            <a:avLst/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MOTOR NO ARRANCA </a:t>
            </a:r>
            <a:endParaRPr lang="es-MX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69" name="Conector recto de flecha 168"/>
          <p:cNvCxnSpPr>
            <a:stCxn id="4" idx="3"/>
            <a:endCxn id="6" idx="2"/>
          </p:cNvCxnSpPr>
          <p:nvPr/>
        </p:nvCxnSpPr>
        <p:spPr>
          <a:xfrm flipV="1">
            <a:off x="7016408" y="1225201"/>
            <a:ext cx="610172" cy="7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1" name="Conector recto de flecha 170"/>
          <p:cNvCxnSpPr>
            <a:stCxn id="6" idx="6"/>
            <a:endCxn id="11" idx="1"/>
          </p:cNvCxnSpPr>
          <p:nvPr/>
        </p:nvCxnSpPr>
        <p:spPr>
          <a:xfrm flipV="1">
            <a:off x="8332432" y="1225200"/>
            <a:ext cx="990627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3" name="Conector recto de flecha 172"/>
          <p:cNvCxnSpPr>
            <a:stCxn id="4" idx="1"/>
            <a:endCxn id="5" idx="6"/>
          </p:cNvCxnSpPr>
          <p:nvPr/>
        </p:nvCxnSpPr>
        <p:spPr>
          <a:xfrm flipH="1" flipV="1">
            <a:off x="3664208" y="1225201"/>
            <a:ext cx="615692" cy="7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9" name="Conector angular 178"/>
          <p:cNvCxnSpPr>
            <a:stCxn id="5" idx="2"/>
            <a:endCxn id="7" idx="0"/>
          </p:cNvCxnSpPr>
          <p:nvPr/>
        </p:nvCxnSpPr>
        <p:spPr>
          <a:xfrm rot="10800000" flipV="1">
            <a:off x="2753779" y="1225201"/>
            <a:ext cx="228639" cy="703870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1" name="Conector angular 180"/>
          <p:cNvCxnSpPr>
            <a:stCxn id="7" idx="1"/>
            <a:endCxn id="12" idx="0"/>
          </p:cNvCxnSpPr>
          <p:nvPr/>
        </p:nvCxnSpPr>
        <p:spPr>
          <a:xfrm rot="10800000" flipV="1">
            <a:off x="848011" y="2129139"/>
            <a:ext cx="687490" cy="407323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3" name="Conector angular 182"/>
          <p:cNvCxnSpPr>
            <a:stCxn id="7" idx="3"/>
            <a:endCxn id="13" idx="0"/>
          </p:cNvCxnSpPr>
          <p:nvPr/>
        </p:nvCxnSpPr>
        <p:spPr>
          <a:xfrm>
            <a:off x="3972054" y="2129140"/>
            <a:ext cx="772735" cy="575134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7" name="Conector recto de flecha 186"/>
          <p:cNvCxnSpPr>
            <a:stCxn id="13" idx="6"/>
            <a:endCxn id="10" idx="1"/>
          </p:cNvCxnSpPr>
          <p:nvPr/>
        </p:nvCxnSpPr>
        <p:spPr>
          <a:xfrm flipV="1">
            <a:off x="5083336" y="2925097"/>
            <a:ext cx="724391" cy="1190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0" name="Conector angular 189"/>
          <p:cNvCxnSpPr>
            <a:stCxn id="12" idx="4"/>
            <a:endCxn id="9" idx="1"/>
          </p:cNvCxnSpPr>
          <p:nvPr/>
        </p:nvCxnSpPr>
        <p:spPr>
          <a:xfrm rot="16200000" flipH="1">
            <a:off x="831676" y="2997710"/>
            <a:ext cx="490585" cy="457915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4" name="Conector angular 193"/>
          <p:cNvCxnSpPr>
            <a:stCxn id="9" idx="2"/>
            <a:endCxn id="84" idx="0"/>
          </p:cNvCxnSpPr>
          <p:nvPr/>
        </p:nvCxnSpPr>
        <p:spPr>
          <a:xfrm rot="5400000">
            <a:off x="1602570" y="3139306"/>
            <a:ext cx="607521" cy="1694895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1" name="Conector angular 200"/>
          <p:cNvCxnSpPr>
            <a:stCxn id="9" idx="3"/>
            <a:endCxn id="85" idx="0"/>
          </p:cNvCxnSpPr>
          <p:nvPr/>
        </p:nvCxnSpPr>
        <p:spPr>
          <a:xfrm>
            <a:off x="4201628" y="3471961"/>
            <a:ext cx="1187800" cy="559247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3" name="Conector angular 202"/>
          <p:cNvCxnSpPr>
            <a:stCxn id="84" idx="4"/>
            <a:endCxn id="8" idx="1"/>
          </p:cNvCxnSpPr>
          <p:nvPr/>
        </p:nvCxnSpPr>
        <p:spPr>
          <a:xfrm rot="16200000" flipH="1">
            <a:off x="961971" y="4811478"/>
            <a:ext cx="805195" cy="611373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7" name="Conector angular 206"/>
          <p:cNvCxnSpPr>
            <a:stCxn id="85" idx="4"/>
            <a:endCxn id="23" idx="1"/>
          </p:cNvCxnSpPr>
          <p:nvPr/>
        </p:nvCxnSpPr>
        <p:spPr>
          <a:xfrm rot="16200000" flipH="1">
            <a:off x="5464972" y="4424769"/>
            <a:ext cx="428511" cy="579598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653708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/>
          <p:cNvSpPr/>
          <p:nvPr/>
        </p:nvSpPr>
        <p:spPr>
          <a:xfrm>
            <a:off x="4283075" y="301625"/>
            <a:ext cx="3092450" cy="488950"/>
          </a:xfrm>
          <a:prstGeom prst="rect">
            <a:avLst/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r>
              <a:rPr lang="es-MX" dirty="0" smtClean="0"/>
              <a:t>BAJA PRESIÓN HIDRÁULICA  </a:t>
            </a:r>
            <a:endParaRPr lang="es-MX" dirty="0"/>
          </a:p>
        </p:txBody>
      </p:sp>
      <p:sp>
        <p:nvSpPr>
          <p:cNvPr id="5" name="Rectángulo 4"/>
          <p:cNvSpPr/>
          <p:nvPr/>
        </p:nvSpPr>
        <p:spPr>
          <a:xfrm>
            <a:off x="3917048" y="1188722"/>
            <a:ext cx="3492500" cy="449597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¿</a:t>
            </a:r>
            <a:r>
              <a:rPr lang="es-MX" sz="1400" dirty="0">
                <a:latin typeface="Arial" panose="020B0604020202020204" pitchFamily="34" charset="0"/>
                <a:cs typeface="Arial" panose="020B0604020202020204" pitchFamily="34" charset="0"/>
              </a:rPr>
              <a:t>La máquina se mueve mucho mas lento de lo normal o le cuesta arrancar</a:t>
            </a:r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?</a:t>
            </a:r>
            <a:endParaRPr lang="es-MX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Rectángulo 5"/>
          <p:cNvSpPr/>
          <p:nvPr/>
        </p:nvSpPr>
        <p:spPr>
          <a:xfrm>
            <a:off x="8674939" y="1212043"/>
            <a:ext cx="3239559" cy="386022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¿Existen fugas visibles de aceite?</a:t>
            </a:r>
            <a:endParaRPr lang="es-MX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Rectángulo 6"/>
          <p:cNvSpPr/>
          <p:nvPr/>
        </p:nvSpPr>
        <p:spPr>
          <a:xfrm>
            <a:off x="5972005" y="5137724"/>
            <a:ext cx="2701349" cy="471055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MX" sz="1400" smtClean="0">
                <a:latin typeface="Arial" panose="020B0604020202020204" pitchFamily="34" charset="0"/>
                <a:cs typeface="Arial" panose="020B0604020202020204" pitchFamily="34" charset="0"/>
              </a:rPr>
              <a:t>Verificar calibración de presión</a:t>
            </a:r>
            <a:endParaRPr lang="es-MX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Rectángulo 8"/>
          <p:cNvSpPr/>
          <p:nvPr/>
        </p:nvSpPr>
        <p:spPr>
          <a:xfrm>
            <a:off x="8142357" y="3060217"/>
            <a:ext cx="3267941" cy="353687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¿La válvula de alivio está dañada?</a:t>
            </a:r>
            <a:endParaRPr lang="es-MX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Rectángulo 9"/>
          <p:cNvSpPr/>
          <p:nvPr/>
        </p:nvSpPr>
        <p:spPr>
          <a:xfrm>
            <a:off x="3260509" y="2115489"/>
            <a:ext cx="2952965" cy="2443064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just"/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Posible causa: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Mangueras rotas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Tuercas flojas</a:t>
            </a:r>
            <a:endParaRPr lang="es-MX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Sellos desgastados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Golpe en el tanque de almacenamiento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s-MX" sz="14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Acción correctiva: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Cambiar manguera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Reemplazar sellos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Reparar la grieta del tanque</a:t>
            </a:r>
            <a:endParaRPr lang="es-MX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Elipse 10"/>
          <p:cNvSpPr/>
          <p:nvPr/>
        </p:nvSpPr>
        <p:spPr>
          <a:xfrm>
            <a:off x="2925763" y="1204912"/>
            <a:ext cx="669492" cy="405679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Sí</a:t>
            </a:r>
            <a:endParaRPr lang="es-MX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Elipse 11"/>
          <p:cNvSpPr/>
          <p:nvPr/>
        </p:nvSpPr>
        <p:spPr>
          <a:xfrm>
            <a:off x="10918352" y="2180889"/>
            <a:ext cx="630382" cy="473348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No</a:t>
            </a:r>
            <a:endParaRPr lang="es-MX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Elipse 12"/>
          <p:cNvSpPr/>
          <p:nvPr/>
        </p:nvSpPr>
        <p:spPr>
          <a:xfrm>
            <a:off x="7677581" y="2180889"/>
            <a:ext cx="711200" cy="435898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Sí</a:t>
            </a:r>
            <a:endParaRPr lang="es-MX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Elipse 13"/>
          <p:cNvSpPr/>
          <p:nvPr/>
        </p:nvSpPr>
        <p:spPr>
          <a:xfrm>
            <a:off x="7731341" y="1221265"/>
            <a:ext cx="645102" cy="367579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No</a:t>
            </a:r>
            <a:endParaRPr lang="es-MX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Elipse 14"/>
          <p:cNvSpPr/>
          <p:nvPr/>
        </p:nvSpPr>
        <p:spPr>
          <a:xfrm>
            <a:off x="7446965" y="3797855"/>
            <a:ext cx="647700" cy="492124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Sí</a:t>
            </a:r>
            <a:endParaRPr lang="es-MX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Elipse 15"/>
          <p:cNvSpPr/>
          <p:nvPr/>
        </p:nvSpPr>
        <p:spPr>
          <a:xfrm>
            <a:off x="10165211" y="3732849"/>
            <a:ext cx="679450" cy="413393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No</a:t>
            </a:r>
            <a:endParaRPr lang="es-MX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Rectángulo 17"/>
          <p:cNvSpPr/>
          <p:nvPr/>
        </p:nvSpPr>
        <p:spPr>
          <a:xfrm>
            <a:off x="225077" y="334040"/>
            <a:ext cx="2411799" cy="3079864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just"/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Posible causa: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Aceite viejo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Entrada de aire en las mangueras (burbujas)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MX" sz="1400" dirty="0">
                <a:latin typeface="Arial" panose="020B0604020202020204" pitchFamily="34" charset="0"/>
                <a:cs typeface="Arial" panose="020B0604020202020204" pitchFamily="34" charset="0"/>
              </a:rPr>
              <a:t>F</a:t>
            </a:r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alta de fuerza en la bomba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Filtro de aceite tapado </a:t>
            </a:r>
          </a:p>
          <a:p>
            <a:pPr algn="just"/>
            <a:endParaRPr lang="es-MX" sz="14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Acción correctiva: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Limpiar los filtros de aceite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Verificar el estado de la bomba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Ajustar conexiones</a:t>
            </a:r>
            <a:endParaRPr lang="es-MX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Rectángulo 18"/>
          <p:cNvSpPr/>
          <p:nvPr/>
        </p:nvSpPr>
        <p:spPr>
          <a:xfrm>
            <a:off x="9040828" y="4407739"/>
            <a:ext cx="2928216" cy="2235108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just"/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Posible causa: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Válvula atascada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Resorte dañado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Aceite contaminado por agua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Filtro hidráulico obstruido</a:t>
            </a:r>
          </a:p>
          <a:p>
            <a:pPr algn="just"/>
            <a:endParaRPr lang="es-MX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Acción correctiva: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Limpiar válvula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Reemplazar el resorte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MX" sz="1400" dirty="0" smtClean="0"/>
              <a:t>Cambiar el filtro </a:t>
            </a:r>
            <a:r>
              <a:rPr lang="es-MX" sz="1400" smtClean="0"/>
              <a:t>de aceite </a:t>
            </a:r>
            <a:endParaRPr lang="es-MX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21" name="Conector recto de flecha 20"/>
          <p:cNvCxnSpPr>
            <a:stCxn id="5" idx="1"/>
            <a:endCxn id="11" idx="6"/>
          </p:cNvCxnSpPr>
          <p:nvPr/>
        </p:nvCxnSpPr>
        <p:spPr>
          <a:xfrm flipH="1" flipV="1">
            <a:off x="3595255" y="1407752"/>
            <a:ext cx="321793" cy="576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ector recto de flecha 24"/>
          <p:cNvCxnSpPr>
            <a:stCxn id="5" idx="3"/>
            <a:endCxn id="14" idx="2"/>
          </p:cNvCxnSpPr>
          <p:nvPr/>
        </p:nvCxnSpPr>
        <p:spPr>
          <a:xfrm flipV="1">
            <a:off x="7409548" y="1405055"/>
            <a:ext cx="321793" cy="846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onector recto de flecha 29"/>
          <p:cNvCxnSpPr>
            <a:stCxn id="14" idx="6"/>
            <a:endCxn id="6" idx="1"/>
          </p:cNvCxnSpPr>
          <p:nvPr/>
        </p:nvCxnSpPr>
        <p:spPr>
          <a:xfrm flipV="1">
            <a:off x="8376443" y="1405054"/>
            <a:ext cx="298496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Conector angular 37"/>
          <p:cNvCxnSpPr>
            <a:stCxn id="6" idx="2"/>
            <a:endCxn id="12" idx="0"/>
          </p:cNvCxnSpPr>
          <p:nvPr/>
        </p:nvCxnSpPr>
        <p:spPr>
          <a:xfrm rot="16200000" flipH="1">
            <a:off x="10472719" y="1420065"/>
            <a:ext cx="582824" cy="938824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Conector angular 40"/>
          <p:cNvCxnSpPr>
            <a:stCxn id="6" idx="2"/>
            <a:endCxn id="13" idx="0"/>
          </p:cNvCxnSpPr>
          <p:nvPr/>
        </p:nvCxnSpPr>
        <p:spPr>
          <a:xfrm rot="5400000">
            <a:off x="8872538" y="758708"/>
            <a:ext cx="582824" cy="2261538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Conector angular 48"/>
          <p:cNvCxnSpPr>
            <a:stCxn id="13" idx="2"/>
            <a:endCxn id="10" idx="3"/>
          </p:cNvCxnSpPr>
          <p:nvPr/>
        </p:nvCxnSpPr>
        <p:spPr>
          <a:xfrm rot="10800000" flipV="1">
            <a:off x="6213475" y="2398837"/>
            <a:ext cx="1464107" cy="938183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Conector angular 57"/>
          <p:cNvCxnSpPr>
            <a:stCxn id="12" idx="4"/>
            <a:endCxn id="9" idx="0"/>
          </p:cNvCxnSpPr>
          <p:nvPr/>
        </p:nvCxnSpPr>
        <p:spPr>
          <a:xfrm rot="5400000">
            <a:off x="10301946" y="2128620"/>
            <a:ext cx="405980" cy="1457215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Conector angular 64"/>
          <p:cNvCxnSpPr>
            <a:stCxn id="9" idx="3"/>
            <a:endCxn id="16" idx="6"/>
          </p:cNvCxnSpPr>
          <p:nvPr/>
        </p:nvCxnSpPr>
        <p:spPr>
          <a:xfrm flipH="1">
            <a:off x="10844661" y="3237061"/>
            <a:ext cx="565637" cy="702485"/>
          </a:xfrm>
          <a:prstGeom prst="bentConnector3">
            <a:avLst>
              <a:gd name="adj1" fmla="val -40415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Conector recto de flecha 73"/>
          <p:cNvCxnSpPr>
            <a:stCxn id="16" idx="4"/>
            <a:endCxn id="19" idx="0"/>
          </p:cNvCxnSpPr>
          <p:nvPr/>
        </p:nvCxnSpPr>
        <p:spPr>
          <a:xfrm>
            <a:off x="10504936" y="4146242"/>
            <a:ext cx="0" cy="26149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Conector angular 77"/>
          <p:cNvCxnSpPr>
            <a:stCxn id="15" idx="4"/>
            <a:endCxn id="7" idx="0"/>
          </p:cNvCxnSpPr>
          <p:nvPr/>
        </p:nvCxnSpPr>
        <p:spPr>
          <a:xfrm rot="5400000">
            <a:off x="7122876" y="4489784"/>
            <a:ext cx="847745" cy="448135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Conector angular 80"/>
          <p:cNvCxnSpPr>
            <a:stCxn id="9" idx="1"/>
            <a:endCxn id="15" idx="0"/>
          </p:cNvCxnSpPr>
          <p:nvPr/>
        </p:nvCxnSpPr>
        <p:spPr>
          <a:xfrm rot="10800000" flipV="1">
            <a:off x="7770815" y="3237061"/>
            <a:ext cx="371542" cy="560794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ector angular 25"/>
          <p:cNvCxnSpPr>
            <a:stCxn id="11" idx="3"/>
            <a:endCxn id="18" idx="3"/>
          </p:cNvCxnSpPr>
          <p:nvPr/>
        </p:nvCxnSpPr>
        <p:spPr>
          <a:xfrm rot="5400000">
            <a:off x="2668947" y="1519110"/>
            <a:ext cx="322791" cy="386932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796447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/>
          <p:cNvSpPr/>
          <p:nvPr/>
        </p:nvSpPr>
        <p:spPr>
          <a:xfrm>
            <a:off x="4410668" y="1767880"/>
            <a:ext cx="3595254" cy="352896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¿La bomba o motor hace ruido anormal?</a:t>
            </a:r>
            <a:endParaRPr lang="es-MX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Rectángulo 4"/>
          <p:cNvSpPr/>
          <p:nvPr/>
        </p:nvSpPr>
        <p:spPr>
          <a:xfrm>
            <a:off x="5035952" y="391348"/>
            <a:ext cx="2344684" cy="342900"/>
          </a:xfrm>
          <a:prstGeom prst="rect">
            <a:avLst/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MOVIMIENTO LENTO </a:t>
            </a:r>
            <a:endParaRPr lang="es-MX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Rectángulo 5"/>
          <p:cNvSpPr/>
          <p:nvPr/>
        </p:nvSpPr>
        <p:spPr>
          <a:xfrm>
            <a:off x="7479559" y="2983439"/>
            <a:ext cx="2686298" cy="456705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¿Hay piezas atoradas o suciedad?</a:t>
            </a:r>
          </a:p>
        </p:txBody>
      </p:sp>
      <p:sp>
        <p:nvSpPr>
          <p:cNvPr id="7" name="Rectángulo 6"/>
          <p:cNvSpPr/>
          <p:nvPr/>
        </p:nvSpPr>
        <p:spPr>
          <a:xfrm>
            <a:off x="637643" y="2275542"/>
            <a:ext cx="2729440" cy="250365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Posible causa: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Lubricación insuficiente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Bajo nivel de aceite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Componentes secos o desgastados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Fugas de aceite </a:t>
            </a:r>
            <a:b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s-MX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Acción correctiva: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Rellenar aceite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Lubricar componentes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Revisar fugas</a:t>
            </a:r>
            <a:endParaRPr lang="es-MX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Rectángulo 7"/>
          <p:cNvSpPr/>
          <p:nvPr/>
        </p:nvSpPr>
        <p:spPr>
          <a:xfrm>
            <a:off x="7368769" y="4121120"/>
            <a:ext cx="2735617" cy="258448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Posible causa: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Obstrucción mecánica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Acumulación de residuos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400" dirty="0">
                <a:latin typeface="Arial" panose="020B0604020202020204" pitchFamily="34" charset="0"/>
                <a:cs typeface="Arial" panose="020B0604020202020204" pitchFamily="34" charset="0"/>
              </a:rPr>
              <a:t>Sistema de lubricación deficiente</a:t>
            </a:r>
            <a:endParaRPr lang="es-MX" sz="14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Hay suciedad en el sistema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MX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Acción correctiva: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Limpiar el sistema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Retirar obstrucciones mecánicas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Agregar lubricación </a:t>
            </a:r>
          </a:p>
        </p:txBody>
      </p:sp>
      <p:sp>
        <p:nvSpPr>
          <p:cNvPr id="9" name="Rectángulo 8"/>
          <p:cNvSpPr/>
          <p:nvPr/>
        </p:nvSpPr>
        <p:spPr>
          <a:xfrm>
            <a:off x="2253366" y="923395"/>
            <a:ext cx="2753591" cy="372588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¿El nivel de lubricación es bajo?</a:t>
            </a:r>
            <a:endParaRPr lang="es-MX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Elipse 9"/>
          <p:cNvSpPr/>
          <p:nvPr/>
        </p:nvSpPr>
        <p:spPr>
          <a:xfrm>
            <a:off x="10887530" y="2997391"/>
            <a:ext cx="621476" cy="428799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No</a:t>
            </a:r>
            <a:endParaRPr lang="es-MX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Elipse 10"/>
          <p:cNvSpPr/>
          <p:nvPr/>
        </p:nvSpPr>
        <p:spPr>
          <a:xfrm>
            <a:off x="1001460" y="865805"/>
            <a:ext cx="540327" cy="477982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Sí</a:t>
            </a:r>
            <a:endParaRPr lang="es-MX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Elipse 11"/>
          <p:cNvSpPr/>
          <p:nvPr/>
        </p:nvSpPr>
        <p:spPr>
          <a:xfrm>
            <a:off x="5889788" y="887121"/>
            <a:ext cx="637013" cy="464226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No</a:t>
            </a:r>
            <a:endParaRPr lang="es-MX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Elipse 12"/>
          <p:cNvSpPr/>
          <p:nvPr/>
        </p:nvSpPr>
        <p:spPr>
          <a:xfrm>
            <a:off x="10937902" y="4305387"/>
            <a:ext cx="588025" cy="428799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Sí</a:t>
            </a:r>
            <a:endParaRPr lang="es-MX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Elipse 13"/>
          <p:cNvSpPr/>
          <p:nvPr/>
        </p:nvSpPr>
        <p:spPr>
          <a:xfrm>
            <a:off x="8500096" y="2079397"/>
            <a:ext cx="645225" cy="446131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No</a:t>
            </a:r>
            <a:endParaRPr lang="es-MX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Elipse 14"/>
          <p:cNvSpPr/>
          <p:nvPr/>
        </p:nvSpPr>
        <p:spPr>
          <a:xfrm>
            <a:off x="3905171" y="2324567"/>
            <a:ext cx="655419" cy="425483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Sí</a:t>
            </a:r>
            <a:endParaRPr lang="es-MX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Rectángulo 15"/>
          <p:cNvSpPr/>
          <p:nvPr/>
        </p:nvSpPr>
        <p:spPr>
          <a:xfrm>
            <a:off x="3964369" y="3440142"/>
            <a:ext cx="2646947" cy="2452989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Posible causa: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Bomba desgastada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Rodamientos dañados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Aire en el sistema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Filtro tapado </a:t>
            </a:r>
            <a:b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s-MX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Acción correctiva: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Revisar bomba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Revisar rodamientos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Ajustar piezas flojas </a:t>
            </a:r>
          </a:p>
        </p:txBody>
      </p:sp>
      <p:cxnSp>
        <p:nvCxnSpPr>
          <p:cNvPr id="19" name="Conector recto de flecha 18"/>
          <p:cNvCxnSpPr>
            <a:stCxn id="9" idx="3"/>
            <a:endCxn id="12" idx="2"/>
          </p:cNvCxnSpPr>
          <p:nvPr/>
        </p:nvCxnSpPr>
        <p:spPr>
          <a:xfrm>
            <a:off x="5006957" y="1109689"/>
            <a:ext cx="882831" cy="954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ector recto de flecha 22"/>
          <p:cNvCxnSpPr>
            <a:stCxn id="9" idx="1"/>
            <a:endCxn id="11" idx="6"/>
          </p:cNvCxnSpPr>
          <p:nvPr/>
        </p:nvCxnSpPr>
        <p:spPr>
          <a:xfrm flipH="1" flipV="1">
            <a:off x="1541787" y="1104796"/>
            <a:ext cx="711579" cy="489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ector angular 27"/>
          <p:cNvCxnSpPr>
            <a:stCxn id="11" idx="4"/>
            <a:endCxn id="7" idx="0"/>
          </p:cNvCxnSpPr>
          <p:nvPr/>
        </p:nvCxnSpPr>
        <p:spPr>
          <a:xfrm rot="16200000" flipH="1">
            <a:off x="1171116" y="1444294"/>
            <a:ext cx="931755" cy="730739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onector recto de flecha 30"/>
          <p:cNvCxnSpPr/>
          <p:nvPr/>
        </p:nvCxnSpPr>
        <p:spPr>
          <a:xfrm>
            <a:off x="7897016" y="-2695074"/>
            <a:ext cx="4382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Conector recto de flecha 33"/>
          <p:cNvCxnSpPr>
            <a:stCxn id="12" idx="4"/>
            <a:endCxn id="4" idx="0"/>
          </p:cNvCxnSpPr>
          <p:nvPr/>
        </p:nvCxnSpPr>
        <p:spPr>
          <a:xfrm>
            <a:off x="6208295" y="1351347"/>
            <a:ext cx="0" cy="41653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Conector angular 41"/>
          <p:cNvCxnSpPr>
            <a:stCxn id="4" idx="3"/>
            <a:endCxn id="14" idx="6"/>
          </p:cNvCxnSpPr>
          <p:nvPr/>
        </p:nvCxnSpPr>
        <p:spPr>
          <a:xfrm>
            <a:off x="8005922" y="1944328"/>
            <a:ext cx="1139399" cy="358135"/>
          </a:xfrm>
          <a:prstGeom prst="bentConnector3">
            <a:avLst>
              <a:gd name="adj1" fmla="val 120063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Conector angular 46"/>
          <p:cNvCxnSpPr>
            <a:stCxn id="4" idx="1"/>
            <a:endCxn id="15" idx="2"/>
          </p:cNvCxnSpPr>
          <p:nvPr/>
        </p:nvCxnSpPr>
        <p:spPr>
          <a:xfrm rot="10800000" flipV="1">
            <a:off x="3905172" y="1944327"/>
            <a:ext cx="505497" cy="592981"/>
          </a:xfrm>
          <a:prstGeom prst="bentConnector3">
            <a:avLst>
              <a:gd name="adj1" fmla="val 145223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Conector angular 50"/>
          <p:cNvCxnSpPr>
            <a:stCxn id="15" idx="6"/>
            <a:endCxn id="16" idx="0"/>
          </p:cNvCxnSpPr>
          <p:nvPr/>
        </p:nvCxnSpPr>
        <p:spPr>
          <a:xfrm>
            <a:off x="4560590" y="2537309"/>
            <a:ext cx="727253" cy="902833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Conector recto de flecha 59"/>
          <p:cNvCxnSpPr>
            <a:stCxn id="14" idx="4"/>
            <a:endCxn id="6" idx="0"/>
          </p:cNvCxnSpPr>
          <p:nvPr/>
        </p:nvCxnSpPr>
        <p:spPr>
          <a:xfrm flipH="1">
            <a:off x="8822708" y="2525528"/>
            <a:ext cx="1" cy="45791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Rectángulo 63"/>
          <p:cNvSpPr/>
          <p:nvPr/>
        </p:nvSpPr>
        <p:spPr>
          <a:xfrm>
            <a:off x="8827469" y="869142"/>
            <a:ext cx="2999874" cy="665922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Revisar la energía eléctrica</a:t>
            </a:r>
            <a:endParaRPr lang="es-MX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68" name="Conector recto de flecha 67"/>
          <p:cNvCxnSpPr>
            <a:stCxn id="6" idx="3"/>
            <a:endCxn id="10" idx="2"/>
          </p:cNvCxnSpPr>
          <p:nvPr/>
        </p:nvCxnSpPr>
        <p:spPr>
          <a:xfrm flipV="1">
            <a:off x="10165857" y="3211791"/>
            <a:ext cx="721673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Conector angular 70"/>
          <p:cNvCxnSpPr>
            <a:stCxn id="10" idx="0"/>
            <a:endCxn id="64" idx="2"/>
          </p:cNvCxnSpPr>
          <p:nvPr/>
        </p:nvCxnSpPr>
        <p:spPr>
          <a:xfrm rot="16200000" flipV="1">
            <a:off x="10031674" y="1830797"/>
            <a:ext cx="1462327" cy="870862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Conector angular 80"/>
          <p:cNvCxnSpPr>
            <a:stCxn id="6" idx="2"/>
            <a:endCxn id="13" idx="0"/>
          </p:cNvCxnSpPr>
          <p:nvPr/>
        </p:nvCxnSpPr>
        <p:spPr>
          <a:xfrm rot="16200000" flipH="1">
            <a:off x="9594690" y="2668161"/>
            <a:ext cx="865243" cy="2409207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Conector angular 82"/>
          <p:cNvCxnSpPr/>
          <p:nvPr/>
        </p:nvCxnSpPr>
        <p:spPr>
          <a:xfrm rot="16200000" flipV="1">
            <a:off x="10249051" y="-2773430"/>
            <a:ext cx="112294" cy="44417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Conector angular 87"/>
          <p:cNvCxnSpPr>
            <a:stCxn id="13" idx="4"/>
            <a:endCxn id="8" idx="3"/>
          </p:cNvCxnSpPr>
          <p:nvPr/>
        </p:nvCxnSpPr>
        <p:spPr>
          <a:xfrm rot="5400000">
            <a:off x="10328564" y="4510009"/>
            <a:ext cx="679174" cy="1127529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200167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/>
          <p:cNvSpPr/>
          <p:nvPr/>
        </p:nvSpPr>
        <p:spPr>
          <a:xfrm>
            <a:off x="9571632" y="217313"/>
            <a:ext cx="2316174" cy="2366519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Posible causa: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Manguera dañada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Conexión floja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Sello desgastado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Tubo roto </a:t>
            </a:r>
            <a:b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s-MX" sz="14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Acción correctiva: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Cambiar manguera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Ajustar Conexiones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Revisar tuberías</a:t>
            </a:r>
          </a:p>
        </p:txBody>
      </p:sp>
      <p:sp>
        <p:nvSpPr>
          <p:cNvPr id="3" name="Rectángulo 2"/>
          <p:cNvSpPr/>
          <p:nvPr/>
        </p:nvSpPr>
        <p:spPr>
          <a:xfrm>
            <a:off x="324547" y="3859643"/>
            <a:ext cx="2504479" cy="2195322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endParaRPr lang="es-MX" sz="14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Posible causa: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Fuga Interna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Sello dañado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Depósito con fuga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Exceso de presión </a:t>
            </a:r>
          </a:p>
          <a:p>
            <a:endParaRPr lang="es-MX" sz="14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Acción  correctiva: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Revisar sellos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Revisar tanque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Verificar presión 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endParaRPr lang="es-MX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Rectángulo 3"/>
          <p:cNvSpPr/>
          <p:nvPr/>
        </p:nvSpPr>
        <p:spPr>
          <a:xfrm>
            <a:off x="4664970" y="3859643"/>
            <a:ext cx="2762525" cy="2513625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Posible causa: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Aceite derramado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Empaque dañado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Conexión mal ajustada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Acumulación de residuos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MX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Acción correctiva: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Limpiar área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Ajustar conexiones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Cambiar empaques </a:t>
            </a:r>
            <a:endParaRPr lang="es-MX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Rectángulo 4"/>
          <p:cNvSpPr/>
          <p:nvPr/>
        </p:nvSpPr>
        <p:spPr>
          <a:xfrm>
            <a:off x="4584357" y="1163549"/>
            <a:ext cx="3228474" cy="474048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¿Se observa aceite tirado o goteando?</a:t>
            </a:r>
            <a:endParaRPr lang="es-MX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Rectángulo 5"/>
          <p:cNvSpPr/>
          <p:nvPr/>
        </p:nvSpPr>
        <p:spPr>
          <a:xfrm>
            <a:off x="3966332" y="2794192"/>
            <a:ext cx="3641558" cy="578383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¿Hay olor fuerte o manchas cerca del sistema?</a:t>
            </a:r>
            <a:endParaRPr lang="es-MX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Rectángulo 6"/>
          <p:cNvSpPr/>
          <p:nvPr/>
        </p:nvSpPr>
        <p:spPr>
          <a:xfrm>
            <a:off x="992275" y="1862789"/>
            <a:ext cx="3418920" cy="496221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¿El nivel de aceite baja rápidamente?</a:t>
            </a:r>
            <a:endParaRPr lang="es-MX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Elipse 7"/>
          <p:cNvSpPr/>
          <p:nvPr/>
        </p:nvSpPr>
        <p:spPr>
          <a:xfrm>
            <a:off x="5474290" y="1862789"/>
            <a:ext cx="625643" cy="497306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No</a:t>
            </a:r>
            <a:endParaRPr lang="es-MX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Elipse 8"/>
          <p:cNvSpPr/>
          <p:nvPr/>
        </p:nvSpPr>
        <p:spPr>
          <a:xfrm>
            <a:off x="3297818" y="1206214"/>
            <a:ext cx="748290" cy="388718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Sí</a:t>
            </a:r>
            <a:endParaRPr lang="es-MX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Elipse 9"/>
          <p:cNvSpPr/>
          <p:nvPr/>
        </p:nvSpPr>
        <p:spPr>
          <a:xfrm>
            <a:off x="3494061" y="3837238"/>
            <a:ext cx="669832" cy="436173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Sí</a:t>
            </a:r>
            <a:endParaRPr lang="es-MX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Elipse 10"/>
          <p:cNvSpPr/>
          <p:nvPr/>
        </p:nvSpPr>
        <p:spPr>
          <a:xfrm>
            <a:off x="8339261" y="1187419"/>
            <a:ext cx="732550" cy="426308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No</a:t>
            </a:r>
            <a:endParaRPr lang="es-MX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Elipse 11"/>
          <p:cNvSpPr/>
          <p:nvPr/>
        </p:nvSpPr>
        <p:spPr>
          <a:xfrm>
            <a:off x="660052" y="2741228"/>
            <a:ext cx="664446" cy="497304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Sí</a:t>
            </a:r>
            <a:endParaRPr lang="es-MX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Elipse 12"/>
          <p:cNvSpPr/>
          <p:nvPr/>
        </p:nvSpPr>
        <p:spPr>
          <a:xfrm>
            <a:off x="8407679" y="2871791"/>
            <a:ext cx="621370" cy="423186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No</a:t>
            </a:r>
            <a:endParaRPr lang="es-MX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Rectángulo 13"/>
          <p:cNvSpPr/>
          <p:nvPr/>
        </p:nvSpPr>
        <p:spPr>
          <a:xfrm>
            <a:off x="5069305" y="320842"/>
            <a:ext cx="2550695" cy="433137"/>
          </a:xfrm>
          <a:prstGeom prst="rect">
            <a:avLst/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FUGA DE ACEITE </a:t>
            </a:r>
            <a:endParaRPr lang="es-MX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Rectángulo 16"/>
          <p:cNvSpPr/>
          <p:nvPr/>
        </p:nvSpPr>
        <p:spPr>
          <a:xfrm>
            <a:off x="8265104" y="3933248"/>
            <a:ext cx="2654912" cy="429089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Revisar presión del sistema</a:t>
            </a:r>
            <a:endParaRPr lang="es-MX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9" name="Conector recto de flecha 18"/>
          <p:cNvCxnSpPr>
            <a:stCxn id="5" idx="1"/>
            <a:endCxn id="9" idx="6"/>
          </p:cNvCxnSpPr>
          <p:nvPr/>
        </p:nvCxnSpPr>
        <p:spPr>
          <a:xfrm flipH="1">
            <a:off x="4046108" y="1400573"/>
            <a:ext cx="53824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ector recto de flecha 20"/>
          <p:cNvCxnSpPr>
            <a:stCxn id="5" idx="3"/>
            <a:endCxn id="11" idx="2"/>
          </p:cNvCxnSpPr>
          <p:nvPr/>
        </p:nvCxnSpPr>
        <p:spPr>
          <a:xfrm>
            <a:off x="7812831" y="1400573"/>
            <a:ext cx="52643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ector angular 22"/>
          <p:cNvCxnSpPr>
            <a:stCxn id="7" idx="1"/>
            <a:endCxn id="12" idx="2"/>
          </p:cNvCxnSpPr>
          <p:nvPr/>
        </p:nvCxnSpPr>
        <p:spPr>
          <a:xfrm rot="10800000" flipV="1">
            <a:off x="660053" y="2110900"/>
            <a:ext cx="332223" cy="878980"/>
          </a:xfrm>
          <a:prstGeom prst="bentConnector3">
            <a:avLst>
              <a:gd name="adj1" fmla="val 168809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ector angular 26"/>
          <p:cNvCxnSpPr>
            <a:stCxn id="12" idx="6"/>
            <a:endCxn id="3" idx="0"/>
          </p:cNvCxnSpPr>
          <p:nvPr/>
        </p:nvCxnSpPr>
        <p:spPr>
          <a:xfrm>
            <a:off x="1324498" y="2989880"/>
            <a:ext cx="252289" cy="869763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Conector recto de flecha 39"/>
          <p:cNvCxnSpPr>
            <a:stCxn id="11" idx="6"/>
            <a:endCxn id="2" idx="1"/>
          </p:cNvCxnSpPr>
          <p:nvPr/>
        </p:nvCxnSpPr>
        <p:spPr>
          <a:xfrm>
            <a:off x="9071811" y="1400573"/>
            <a:ext cx="49982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Conector angular 42"/>
          <p:cNvCxnSpPr>
            <a:stCxn id="9" idx="2"/>
            <a:endCxn id="7" idx="0"/>
          </p:cNvCxnSpPr>
          <p:nvPr/>
        </p:nvCxnSpPr>
        <p:spPr>
          <a:xfrm rot="10800000" flipV="1">
            <a:off x="2701736" y="1400573"/>
            <a:ext cx="596083" cy="462216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Conector recto de flecha 44"/>
          <p:cNvCxnSpPr>
            <a:stCxn id="7" idx="3"/>
            <a:endCxn id="8" idx="2"/>
          </p:cNvCxnSpPr>
          <p:nvPr/>
        </p:nvCxnSpPr>
        <p:spPr>
          <a:xfrm>
            <a:off x="4411195" y="2110900"/>
            <a:ext cx="1063095" cy="54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Conector recto de flecha 48"/>
          <p:cNvCxnSpPr>
            <a:stCxn id="8" idx="4"/>
            <a:endCxn id="6" idx="0"/>
          </p:cNvCxnSpPr>
          <p:nvPr/>
        </p:nvCxnSpPr>
        <p:spPr>
          <a:xfrm flipH="1">
            <a:off x="5787111" y="2360095"/>
            <a:ext cx="1" cy="43409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Conector recto de flecha 51"/>
          <p:cNvCxnSpPr>
            <a:stCxn id="6" idx="3"/>
            <a:endCxn id="13" idx="2"/>
          </p:cNvCxnSpPr>
          <p:nvPr/>
        </p:nvCxnSpPr>
        <p:spPr>
          <a:xfrm>
            <a:off x="7607890" y="3083384"/>
            <a:ext cx="79978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Conector angular 58"/>
          <p:cNvCxnSpPr>
            <a:stCxn id="13" idx="6"/>
          </p:cNvCxnSpPr>
          <p:nvPr/>
        </p:nvCxnSpPr>
        <p:spPr>
          <a:xfrm>
            <a:off x="9029049" y="3083384"/>
            <a:ext cx="542583" cy="776259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Conector angular 60"/>
          <p:cNvCxnSpPr>
            <a:stCxn id="6" idx="1"/>
            <a:endCxn id="10" idx="0"/>
          </p:cNvCxnSpPr>
          <p:nvPr/>
        </p:nvCxnSpPr>
        <p:spPr>
          <a:xfrm rot="10800000" flipV="1">
            <a:off x="3828978" y="3083384"/>
            <a:ext cx="137355" cy="753854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Conector angular 64"/>
          <p:cNvCxnSpPr>
            <a:stCxn id="10" idx="4"/>
            <a:endCxn id="4" idx="1"/>
          </p:cNvCxnSpPr>
          <p:nvPr/>
        </p:nvCxnSpPr>
        <p:spPr>
          <a:xfrm rot="16200000" flipH="1">
            <a:off x="3825451" y="4276936"/>
            <a:ext cx="843045" cy="835993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240514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/>
          <p:cNvSpPr/>
          <p:nvPr/>
        </p:nvSpPr>
        <p:spPr>
          <a:xfrm>
            <a:off x="7892713" y="485273"/>
            <a:ext cx="4106779" cy="504092"/>
          </a:xfrm>
          <a:prstGeom prst="rect">
            <a:avLst/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SOBRECALENTAMIENTO DE MOTOR </a:t>
            </a:r>
            <a:endParaRPr lang="es-MX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Rectángulo 2"/>
          <p:cNvSpPr/>
          <p:nvPr/>
        </p:nvSpPr>
        <p:spPr>
          <a:xfrm>
            <a:off x="9400667" y="4362216"/>
            <a:ext cx="2302195" cy="2383487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Posible causa: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Sobrecarga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Corriente elevada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Voltaje incorrecto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Uso continuo excesivo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MX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Acción correctiva: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Revisar amperaje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Verificar voltaje  </a:t>
            </a:r>
            <a:endParaRPr lang="es-MX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Reducir carga </a:t>
            </a:r>
            <a:endParaRPr lang="es-MX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Rectángulo 3"/>
          <p:cNvSpPr/>
          <p:nvPr/>
        </p:nvSpPr>
        <p:spPr>
          <a:xfrm>
            <a:off x="2418270" y="500080"/>
            <a:ext cx="3208422" cy="489285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¿El motor tiene muy poca ventilación?</a:t>
            </a:r>
            <a:endParaRPr lang="es-MX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Rectángulo 4"/>
          <p:cNvSpPr/>
          <p:nvPr/>
        </p:nvSpPr>
        <p:spPr>
          <a:xfrm>
            <a:off x="5366434" y="1502265"/>
            <a:ext cx="2882771" cy="447913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¿El motor hace ruido o vibración?</a:t>
            </a:r>
            <a:endParaRPr lang="es-MX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Rectángulo 5"/>
          <p:cNvSpPr/>
          <p:nvPr/>
        </p:nvSpPr>
        <p:spPr>
          <a:xfrm>
            <a:off x="6665494" y="4765088"/>
            <a:ext cx="2422355" cy="464638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Verificar consumo eléctrico </a:t>
            </a:r>
            <a:endParaRPr lang="es-MX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Rectángulo 6"/>
          <p:cNvSpPr/>
          <p:nvPr/>
        </p:nvSpPr>
        <p:spPr>
          <a:xfrm>
            <a:off x="8064401" y="2677557"/>
            <a:ext cx="3314219" cy="399339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¿El motor trabaja con mucha carga?</a:t>
            </a:r>
            <a:endParaRPr lang="es-MX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Elipse 7"/>
          <p:cNvSpPr/>
          <p:nvPr/>
        </p:nvSpPr>
        <p:spPr>
          <a:xfrm>
            <a:off x="10736934" y="3621093"/>
            <a:ext cx="641686" cy="602814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Sí</a:t>
            </a:r>
            <a:endParaRPr lang="es-MX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Elipse 10"/>
          <p:cNvSpPr/>
          <p:nvPr/>
        </p:nvSpPr>
        <p:spPr>
          <a:xfrm>
            <a:off x="7562975" y="3638370"/>
            <a:ext cx="659475" cy="585537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No</a:t>
            </a:r>
            <a:endParaRPr lang="es-MX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Rectángulo 15"/>
          <p:cNvSpPr/>
          <p:nvPr/>
        </p:nvSpPr>
        <p:spPr>
          <a:xfrm>
            <a:off x="3335635" y="3131567"/>
            <a:ext cx="2607823" cy="2298958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endParaRPr lang="es-MX" sz="14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Posible causa: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Rodamientos dañados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Partes desgastados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Aire atorado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Desajuste en transmisión </a:t>
            </a:r>
            <a:endParaRPr lang="es-MX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s-MX" sz="14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Acción correctiva: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Revisar rodamientos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Lubricar piezas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Ajustar componentes  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endParaRPr lang="es-MX" sz="14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Rectángulo 16"/>
          <p:cNvSpPr/>
          <p:nvPr/>
        </p:nvSpPr>
        <p:spPr>
          <a:xfrm>
            <a:off x="296056" y="1726222"/>
            <a:ext cx="2541647" cy="2610853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Posible causa: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Ventilador sucio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Entradas de aire tapadas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Excesos de polvo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Mala ventilación </a:t>
            </a:r>
            <a:endParaRPr lang="es-MX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MX" sz="14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Acción correctiva: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Limpiar ventilación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Destapar ventilación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Limpiar polvo </a:t>
            </a:r>
          </a:p>
        </p:txBody>
      </p:sp>
      <p:sp>
        <p:nvSpPr>
          <p:cNvPr id="18" name="Elipse 17"/>
          <p:cNvSpPr/>
          <p:nvPr/>
        </p:nvSpPr>
        <p:spPr>
          <a:xfrm>
            <a:off x="3925050" y="1447720"/>
            <a:ext cx="641686" cy="602814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Sí</a:t>
            </a:r>
            <a:endParaRPr lang="es-MX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Elipse 18"/>
          <p:cNvSpPr/>
          <p:nvPr/>
        </p:nvSpPr>
        <p:spPr>
          <a:xfrm>
            <a:off x="925193" y="453573"/>
            <a:ext cx="641686" cy="602814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Sí</a:t>
            </a:r>
            <a:endParaRPr lang="es-MX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Elipse 19"/>
          <p:cNvSpPr/>
          <p:nvPr/>
        </p:nvSpPr>
        <p:spPr>
          <a:xfrm>
            <a:off x="9400667" y="1423975"/>
            <a:ext cx="641688" cy="585537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No</a:t>
            </a:r>
            <a:endParaRPr lang="es-MX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Elipse 20"/>
          <p:cNvSpPr/>
          <p:nvPr/>
        </p:nvSpPr>
        <p:spPr>
          <a:xfrm>
            <a:off x="6478083" y="444550"/>
            <a:ext cx="659475" cy="585537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No</a:t>
            </a:r>
            <a:endParaRPr lang="es-MX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23" name="Conector recto de flecha 22"/>
          <p:cNvCxnSpPr>
            <a:stCxn id="4" idx="1"/>
            <a:endCxn id="19" idx="6"/>
          </p:cNvCxnSpPr>
          <p:nvPr/>
        </p:nvCxnSpPr>
        <p:spPr>
          <a:xfrm flipH="1">
            <a:off x="1566879" y="744723"/>
            <a:ext cx="851391" cy="1025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ector recto de flecha 25"/>
          <p:cNvCxnSpPr>
            <a:stCxn id="4" idx="3"/>
            <a:endCxn id="21" idx="2"/>
          </p:cNvCxnSpPr>
          <p:nvPr/>
        </p:nvCxnSpPr>
        <p:spPr>
          <a:xfrm flipV="1">
            <a:off x="5626692" y="737319"/>
            <a:ext cx="851391" cy="740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onector angular 29"/>
          <p:cNvCxnSpPr>
            <a:stCxn id="19" idx="4"/>
            <a:endCxn id="17" idx="0"/>
          </p:cNvCxnSpPr>
          <p:nvPr/>
        </p:nvCxnSpPr>
        <p:spPr>
          <a:xfrm rot="16200000" flipH="1">
            <a:off x="1071541" y="1230882"/>
            <a:ext cx="669835" cy="320844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Conector recto de flecha 31"/>
          <p:cNvCxnSpPr/>
          <p:nvPr/>
        </p:nvCxnSpPr>
        <p:spPr>
          <a:xfrm>
            <a:off x="7892713" y="-2887579"/>
            <a:ext cx="4812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Conector recto de flecha 33"/>
          <p:cNvCxnSpPr>
            <a:stCxn id="21" idx="4"/>
            <a:endCxn id="5" idx="0"/>
          </p:cNvCxnSpPr>
          <p:nvPr/>
        </p:nvCxnSpPr>
        <p:spPr>
          <a:xfrm flipH="1">
            <a:off x="6807820" y="1030087"/>
            <a:ext cx="1" cy="47217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Conector recto de flecha 37"/>
          <p:cNvCxnSpPr>
            <a:stCxn id="5" idx="1"/>
            <a:endCxn id="18" idx="6"/>
          </p:cNvCxnSpPr>
          <p:nvPr/>
        </p:nvCxnSpPr>
        <p:spPr>
          <a:xfrm flipH="1">
            <a:off x="4566736" y="1726222"/>
            <a:ext cx="799698" cy="2290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Conector recto de flecha 39"/>
          <p:cNvCxnSpPr/>
          <p:nvPr/>
        </p:nvCxnSpPr>
        <p:spPr>
          <a:xfrm flipH="1">
            <a:off x="7860632" y="-2887579"/>
            <a:ext cx="32081" cy="6416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Conector recto de flecha 41"/>
          <p:cNvCxnSpPr>
            <a:stCxn id="5" idx="3"/>
            <a:endCxn id="20" idx="2"/>
          </p:cNvCxnSpPr>
          <p:nvPr/>
        </p:nvCxnSpPr>
        <p:spPr>
          <a:xfrm flipV="1">
            <a:off x="8249205" y="1716744"/>
            <a:ext cx="1151462" cy="947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Conector angular 51"/>
          <p:cNvCxnSpPr>
            <a:stCxn id="18" idx="2"/>
            <a:endCxn id="16" idx="0"/>
          </p:cNvCxnSpPr>
          <p:nvPr/>
        </p:nvCxnSpPr>
        <p:spPr>
          <a:xfrm rot="10800000" flipH="1" flipV="1">
            <a:off x="3925049" y="1749127"/>
            <a:ext cx="714497" cy="1382440"/>
          </a:xfrm>
          <a:prstGeom prst="bentConnector4">
            <a:avLst>
              <a:gd name="adj1" fmla="val -31995"/>
              <a:gd name="adj2" fmla="val 60901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Conector recto de flecha 53"/>
          <p:cNvCxnSpPr>
            <a:stCxn id="20" idx="4"/>
            <a:endCxn id="7" idx="0"/>
          </p:cNvCxnSpPr>
          <p:nvPr/>
        </p:nvCxnSpPr>
        <p:spPr>
          <a:xfrm>
            <a:off x="9721511" y="2009512"/>
            <a:ext cx="0" cy="66804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Conector angular 56"/>
          <p:cNvCxnSpPr>
            <a:stCxn id="7" idx="2"/>
            <a:endCxn id="11" idx="0"/>
          </p:cNvCxnSpPr>
          <p:nvPr/>
        </p:nvCxnSpPr>
        <p:spPr>
          <a:xfrm rot="5400000">
            <a:off x="8526375" y="2443234"/>
            <a:ext cx="561474" cy="1828798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Conector angular 60"/>
          <p:cNvCxnSpPr>
            <a:stCxn id="7" idx="2"/>
            <a:endCxn id="8" idx="0"/>
          </p:cNvCxnSpPr>
          <p:nvPr/>
        </p:nvCxnSpPr>
        <p:spPr>
          <a:xfrm rot="16200000" flipH="1">
            <a:off x="10117546" y="2680861"/>
            <a:ext cx="544197" cy="1336266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Conector recto de flecha 65"/>
          <p:cNvCxnSpPr>
            <a:stCxn id="11" idx="4"/>
            <a:endCxn id="6" idx="0"/>
          </p:cNvCxnSpPr>
          <p:nvPr/>
        </p:nvCxnSpPr>
        <p:spPr>
          <a:xfrm flipH="1">
            <a:off x="7876672" y="4223907"/>
            <a:ext cx="16041" cy="54118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Conector angular 68"/>
          <p:cNvCxnSpPr>
            <a:stCxn id="8" idx="6"/>
            <a:endCxn id="3" idx="3"/>
          </p:cNvCxnSpPr>
          <p:nvPr/>
        </p:nvCxnSpPr>
        <p:spPr>
          <a:xfrm>
            <a:off x="11378620" y="3922500"/>
            <a:ext cx="324242" cy="1631460"/>
          </a:xfrm>
          <a:prstGeom prst="bentConnector3">
            <a:avLst>
              <a:gd name="adj1" fmla="val 170503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917817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/>
          <p:cNvSpPr/>
          <p:nvPr/>
        </p:nvSpPr>
        <p:spPr>
          <a:xfrm>
            <a:off x="8560029" y="549442"/>
            <a:ext cx="2974848" cy="445170"/>
          </a:xfrm>
          <a:prstGeom prst="rect">
            <a:avLst/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VIBRACIÓN EXCESIVA </a:t>
            </a:r>
            <a:endParaRPr lang="es-MX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Rectángulo 2"/>
          <p:cNvSpPr/>
          <p:nvPr/>
        </p:nvSpPr>
        <p:spPr>
          <a:xfrm>
            <a:off x="4100651" y="2612057"/>
            <a:ext cx="4046623" cy="49708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MX" sz="1400" dirty="0" smtClean="0"/>
              <a:t>¿La máquina trabaja con mucho peso o carga?</a:t>
            </a:r>
            <a:endParaRPr lang="es-MX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Rectángulo 3"/>
          <p:cNvSpPr/>
          <p:nvPr/>
        </p:nvSpPr>
        <p:spPr>
          <a:xfrm>
            <a:off x="3237922" y="485274"/>
            <a:ext cx="2854544" cy="573504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MX" sz="1400" smtClean="0"/>
              <a:t>¿Hay tornillos o piezas flojas?</a:t>
            </a:r>
            <a:endParaRPr lang="es-MX" sz="1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Rectángulo 4"/>
          <p:cNvSpPr/>
          <p:nvPr/>
        </p:nvSpPr>
        <p:spPr>
          <a:xfrm>
            <a:off x="6276619" y="1358593"/>
            <a:ext cx="2630906" cy="390601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MX" sz="1400" dirty="0" smtClean="0"/>
              <a:t>¿El motor hace ruido anormal?</a:t>
            </a:r>
            <a:endParaRPr lang="es-MX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Rectángulo 5"/>
          <p:cNvSpPr/>
          <p:nvPr/>
        </p:nvSpPr>
        <p:spPr>
          <a:xfrm>
            <a:off x="6001319" y="5177457"/>
            <a:ext cx="3411774" cy="570411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Verificar monitoreo de ruidos y movimiento </a:t>
            </a:r>
            <a:endParaRPr lang="es-MX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Elipse 6"/>
          <p:cNvSpPr/>
          <p:nvPr/>
        </p:nvSpPr>
        <p:spPr>
          <a:xfrm>
            <a:off x="5166880" y="3968563"/>
            <a:ext cx="828987" cy="606449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Sí</a:t>
            </a:r>
            <a:endParaRPr lang="es-MX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Elipse 9"/>
          <p:cNvSpPr/>
          <p:nvPr/>
        </p:nvSpPr>
        <p:spPr>
          <a:xfrm>
            <a:off x="7288504" y="3691465"/>
            <a:ext cx="773886" cy="565188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No</a:t>
            </a:r>
            <a:endParaRPr lang="es-MX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Rectángulo 12"/>
          <p:cNvSpPr/>
          <p:nvPr/>
        </p:nvSpPr>
        <p:spPr>
          <a:xfrm>
            <a:off x="1737852" y="3815312"/>
            <a:ext cx="2881362" cy="2759242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Posible causa: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Desbalance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Acumulación de suciedad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Mala distribución de carga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Exceso de trabajo </a:t>
            </a:r>
          </a:p>
          <a:p>
            <a:endParaRPr lang="es-MX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Acción correctiva: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Reducir carga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Balancear sistema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Verificar capacidad del equipo</a:t>
            </a:r>
          </a:p>
        </p:txBody>
      </p:sp>
      <p:sp>
        <p:nvSpPr>
          <p:cNvPr id="14" name="Rectángulo 13"/>
          <p:cNvSpPr/>
          <p:nvPr/>
        </p:nvSpPr>
        <p:spPr>
          <a:xfrm>
            <a:off x="758985" y="1325844"/>
            <a:ext cx="2732546" cy="2222402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Posible causa: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Tornillos flojos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Piezas mal ajustadas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Base inestable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Componentes sueltos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MX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Acción correctiva: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Ajustar tornillos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Revisar soportes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Verificar base del equipo</a:t>
            </a:r>
            <a:endParaRPr lang="es-MX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Rectángulo 14"/>
          <p:cNvSpPr/>
          <p:nvPr/>
        </p:nvSpPr>
        <p:spPr>
          <a:xfrm>
            <a:off x="8669367" y="2222746"/>
            <a:ext cx="2664169" cy="2339822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endParaRPr lang="es-MX" sz="14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Posible causa: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Rodamientos dañados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Partes desgastadas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Problema de alineación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Falta de lubricación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MX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Acción correctiva: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Revisar rodamientos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Lubricar componentes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Ajustar alineación</a:t>
            </a:r>
          </a:p>
          <a:p>
            <a:endParaRPr lang="es-MX" sz="14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Elipse 15"/>
          <p:cNvSpPr/>
          <p:nvPr/>
        </p:nvSpPr>
        <p:spPr>
          <a:xfrm>
            <a:off x="9559532" y="1289223"/>
            <a:ext cx="883840" cy="518773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Sí</a:t>
            </a:r>
            <a:endParaRPr lang="es-MX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Elipse 16"/>
          <p:cNvSpPr/>
          <p:nvPr/>
        </p:nvSpPr>
        <p:spPr>
          <a:xfrm>
            <a:off x="1730676" y="502104"/>
            <a:ext cx="789164" cy="539845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Sí</a:t>
            </a:r>
            <a:endParaRPr lang="es-MX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Elipse 17"/>
          <p:cNvSpPr/>
          <p:nvPr/>
        </p:nvSpPr>
        <p:spPr>
          <a:xfrm>
            <a:off x="4817069" y="1276355"/>
            <a:ext cx="824603" cy="544510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No</a:t>
            </a:r>
            <a:endParaRPr lang="es-MX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Elipse 18"/>
          <p:cNvSpPr/>
          <p:nvPr/>
        </p:nvSpPr>
        <p:spPr>
          <a:xfrm>
            <a:off x="7205129" y="496450"/>
            <a:ext cx="773886" cy="565188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No</a:t>
            </a:r>
            <a:endParaRPr lang="es-MX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21" name="Conector recto de flecha 20"/>
          <p:cNvCxnSpPr>
            <a:stCxn id="4" idx="1"/>
            <a:endCxn id="17" idx="6"/>
          </p:cNvCxnSpPr>
          <p:nvPr/>
        </p:nvCxnSpPr>
        <p:spPr>
          <a:xfrm flipH="1">
            <a:off x="2519840" y="772026"/>
            <a:ext cx="718082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ector recto de flecha 22"/>
          <p:cNvCxnSpPr/>
          <p:nvPr/>
        </p:nvCxnSpPr>
        <p:spPr>
          <a:xfrm flipH="1">
            <a:off x="7892716" y="-2919663"/>
            <a:ext cx="8629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ector recto de flecha 26"/>
          <p:cNvCxnSpPr>
            <a:stCxn id="4" idx="3"/>
            <a:endCxn id="19" idx="2"/>
          </p:cNvCxnSpPr>
          <p:nvPr/>
        </p:nvCxnSpPr>
        <p:spPr>
          <a:xfrm>
            <a:off x="6092466" y="772026"/>
            <a:ext cx="1112663" cy="701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Conector recto de flecha 33"/>
          <p:cNvCxnSpPr>
            <a:stCxn id="17" idx="4"/>
            <a:endCxn id="14" idx="0"/>
          </p:cNvCxnSpPr>
          <p:nvPr/>
        </p:nvCxnSpPr>
        <p:spPr>
          <a:xfrm>
            <a:off x="2125258" y="1041949"/>
            <a:ext cx="0" cy="28389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Conector recto de flecha 36"/>
          <p:cNvCxnSpPr>
            <a:stCxn id="19" idx="4"/>
            <a:endCxn id="5" idx="0"/>
          </p:cNvCxnSpPr>
          <p:nvPr/>
        </p:nvCxnSpPr>
        <p:spPr>
          <a:xfrm>
            <a:off x="7592072" y="1061638"/>
            <a:ext cx="0" cy="29695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Conector recto de flecha 50"/>
          <p:cNvCxnSpPr>
            <a:stCxn id="5" idx="1"/>
            <a:endCxn id="18" idx="6"/>
          </p:cNvCxnSpPr>
          <p:nvPr/>
        </p:nvCxnSpPr>
        <p:spPr>
          <a:xfrm flipH="1" flipV="1">
            <a:off x="5641672" y="1548610"/>
            <a:ext cx="634947" cy="528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Conector recto de flecha 52"/>
          <p:cNvCxnSpPr>
            <a:stCxn id="5" idx="3"/>
            <a:endCxn id="16" idx="2"/>
          </p:cNvCxnSpPr>
          <p:nvPr/>
        </p:nvCxnSpPr>
        <p:spPr>
          <a:xfrm flipV="1">
            <a:off x="8907525" y="1548610"/>
            <a:ext cx="652007" cy="528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Conector recto de flecha 59"/>
          <p:cNvCxnSpPr>
            <a:stCxn id="16" idx="4"/>
            <a:endCxn id="15" idx="0"/>
          </p:cNvCxnSpPr>
          <p:nvPr/>
        </p:nvCxnSpPr>
        <p:spPr>
          <a:xfrm>
            <a:off x="10001452" y="1807996"/>
            <a:ext cx="0" cy="4147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Conector angular 63"/>
          <p:cNvCxnSpPr>
            <a:stCxn id="18" idx="4"/>
            <a:endCxn id="3" idx="0"/>
          </p:cNvCxnSpPr>
          <p:nvPr/>
        </p:nvCxnSpPr>
        <p:spPr>
          <a:xfrm rot="16200000" flipH="1">
            <a:off x="5281071" y="1769165"/>
            <a:ext cx="791192" cy="894592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Conector angular 66"/>
          <p:cNvCxnSpPr>
            <a:stCxn id="3" idx="2"/>
            <a:endCxn id="7" idx="0"/>
          </p:cNvCxnSpPr>
          <p:nvPr/>
        </p:nvCxnSpPr>
        <p:spPr>
          <a:xfrm rot="5400000">
            <a:off x="5422956" y="3267556"/>
            <a:ext cx="859426" cy="542589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Conector angular 68"/>
          <p:cNvCxnSpPr/>
          <p:nvPr/>
        </p:nvCxnSpPr>
        <p:spPr>
          <a:xfrm rot="10800000">
            <a:off x="10347158" y="-2935705"/>
            <a:ext cx="96214" cy="16042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Conector angular 70"/>
          <p:cNvCxnSpPr>
            <a:stCxn id="3" idx="2"/>
            <a:endCxn id="10" idx="0"/>
          </p:cNvCxnSpPr>
          <p:nvPr/>
        </p:nvCxnSpPr>
        <p:spPr>
          <a:xfrm rot="16200000" flipH="1">
            <a:off x="6608541" y="2624559"/>
            <a:ext cx="582328" cy="1551484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Conector recto de flecha 82"/>
          <p:cNvCxnSpPr/>
          <p:nvPr/>
        </p:nvCxnSpPr>
        <p:spPr>
          <a:xfrm>
            <a:off x="7707206" y="4274130"/>
            <a:ext cx="0" cy="92080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Conector angular 86"/>
          <p:cNvCxnSpPr>
            <a:stCxn id="7" idx="4"/>
            <a:endCxn id="13" idx="3"/>
          </p:cNvCxnSpPr>
          <p:nvPr/>
        </p:nvCxnSpPr>
        <p:spPr>
          <a:xfrm rot="5400000">
            <a:off x="4790334" y="4403892"/>
            <a:ext cx="619921" cy="962160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414727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ángulo 2"/>
          <p:cNvSpPr/>
          <p:nvPr/>
        </p:nvSpPr>
        <p:spPr>
          <a:xfrm>
            <a:off x="5468773" y="4451851"/>
            <a:ext cx="3359964" cy="404727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MX" sz="1400" dirty="0" smtClean="0"/>
              <a:t>¿Hay energía eléctrica en el sistema?</a:t>
            </a:r>
            <a:endParaRPr lang="es-MX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Rectángulo 3"/>
          <p:cNvSpPr/>
          <p:nvPr/>
        </p:nvSpPr>
        <p:spPr>
          <a:xfrm>
            <a:off x="7414774" y="1135481"/>
            <a:ext cx="3260641" cy="30480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MX" sz="1400" dirty="0" smtClean="0"/>
              <a:t>¿La banda tiene objetos atorados?</a:t>
            </a:r>
            <a:endParaRPr lang="es-MX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Rectángulo 4"/>
          <p:cNvSpPr/>
          <p:nvPr/>
        </p:nvSpPr>
        <p:spPr>
          <a:xfrm>
            <a:off x="8999622" y="2557377"/>
            <a:ext cx="3031958" cy="31817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MX" sz="1400" dirty="0" smtClean="0"/>
              <a:t>¿El motor de la banda enciende?</a:t>
            </a:r>
            <a:endParaRPr lang="es-MX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Rectángulo 5"/>
          <p:cNvSpPr/>
          <p:nvPr/>
        </p:nvSpPr>
        <p:spPr>
          <a:xfrm>
            <a:off x="4969228" y="287337"/>
            <a:ext cx="2543508" cy="425115"/>
          </a:xfrm>
          <a:prstGeom prst="rect">
            <a:avLst/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BANDA DETENIDA </a:t>
            </a:r>
            <a:endParaRPr lang="es-MX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Elipse 9"/>
          <p:cNvSpPr/>
          <p:nvPr/>
        </p:nvSpPr>
        <p:spPr>
          <a:xfrm>
            <a:off x="6380331" y="1712241"/>
            <a:ext cx="654050" cy="554456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Sí</a:t>
            </a:r>
            <a:endParaRPr lang="es-MX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Elipse 10"/>
          <p:cNvSpPr/>
          <p:nvPr/>
        </p:nvSpPr>
        <p:spPr>
          <a:xfrm>
            <a:off x="7515519" y="5246100"/>
            <a:ext cx="722394" cy="497305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No</a:t>
            </a:r>
            <a:endParaRPr lang="es-MX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Rectángulo 11"/>
          <p:cNvSpPr/>
          <p:nvPr/>
        </p:nvSpPr>
        <p:spPr>
          <a:xfrm>
            <a:off x="5459539" y="6039021"/>
            <a:ext cx="3073786" cy="393365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Revisar tablero de control </a:t>
            </a:r>
            <a:endParaRPr lang="es-MX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Rectángulo 12"/>
          <p:cNvSpPr/>
          <p:nvPr/>
        </p:nvSpPr>
        <p:spPr>
          <a:xfrm>
            <a:off x="1184704" y="4208380"/>
            <a:ext cx="2596816" cy="2365544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Posible causa: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Contactor dañado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Fusible abierto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Cable flojo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Protección activada</a:t>
            </a:r>
          </a:p>
          <a:p>
            <a:endParaRPr lang="es-MX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Acción correctiva: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Revisar contactor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Revisar fusibles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Ajustar cableado </a:t>
            </a:r>
            <a:endParaRPr lang="es-MX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Rectángulo 13"/>
          <p:cNvSpPr/>
          <p:nvPr/>
        </p:nvSpPr>
        <p:spPr>
          <a:xfrm>
            <a:off x="3186708" y="1091116"/>
            <a:ext cx="2386932" cy="2494546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endParaRPr lang="es-MX" sz="14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Posible causa: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Obstrucción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Material atorado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Exceso de carga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Rodillos bloqueados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MX" sz="14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Acción correctiva: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Retirar obstrucciones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Limpiar banda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Revisar rodillos 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endParaRPr lang="es-MX" sz="14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Rectángulo 14"/>
          <p:cNvSpPr/>
          <p:nvPr/>
        </p:nvSpPr>
        <p:spPr>
          <a:xfrm>
            <a:off x="9868233" y="4221827"/>
            <a:ext cx="2116118" cy="2474495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Posible causa: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Banda floja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Polea dañada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Deslizamiento mal ajustado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Falta de tensión</a:t>
            </a:r>
          </a:p>
          <a:p>
            <a:endParaRPr lang="es-MX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Acción correctiva: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Ajustar banda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Revisar poleas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Verificar tensión </a:t>
            </a:r>
            <a:endParaRPr lang="es-MX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Elipse 15"/>
          <p:cNvSpPr/>
          <p:nvPr/>
        </p:nvSpPr>
        <p:spPr>
          <a:xfrm>
            <a:off x="4227824" y="4376986"/>
            <a:ext cx="654050" cy="554456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Sí</a:t>
            </a:r>
            <a:endParaRPr lang="es-MX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Elipse 16"/>
          <p:cNvSpPr/>
          <p:nvPr/>
        </p:nvSpPr>
        <p:spPr>
          <a:xfrm>
            <a:off x="10599267" y="3316371"/>
            <a:ext cx="654050" cy="554456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Sí</a:t>
            </a:r>
            <a:endParaRPr lang="es-MX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Elipse 17"/>
          <p:cNvSpPr/>
          <p:nvPr/>
        </p:nvSpPr>
        <p:spPr>
          <a:xfrm>
            <a:off x="7876716" y="3316371"/>
            <a:ext cx="722394" cy="497305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No</a:t>
            </a:r>
            <a:endParaRPr lang="es-MX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Elipse 18"/>
          <p:cNvSpPr/>
          <p:nvPr/>
        </p:nvSpPr>
        <p:spPr>
          <a:xfrm>
            <a:off x="10154404" y="1712241"/>
            <a:ext cx="722394" cy="497305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No</a:t>
            </a:r>
            <a:endParaRPr lang="es-MX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21" name="Conector angular 20"/>
          <p:cNvCxnSpPr>
            <a:stCxn id="4" idx="1"/>
            <a:endCxn id="10" idx="0"/>
          </p:cNvCxnSpPr>
          <p:nvPr/>
        </p:nvCxnSpPr>
        <p:spPr>
          <a:xfrm rot="10800000" flipV="1">
            <a:off x="6707356" y="1287881"/>
            <a:ext cx="707418" cy="424360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ector angular 26"/>
          <p:cNvCxnSpPr>
            <a:stCxn id="4" idx="2"/>
            <a:endCxn id="19" idx="2"/>
          </p:cNvCxnSpPr>
          <p:nvPr/>
        </p:nvCxnSpPr>
        <p:spPr>
          <a:xfrm rot="16200000" flipH="1">
            <a:off x="9339443" y="1145932"/>
            <a:ext cx="520613" cy="1109309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ector angular 28"/>
          <p:cNvCxnSpPr>
            <a:stCxn id="10" idx="4"/>
            <a:endCxn id="14" idx="3"/>
          </p:cNvCxnSpPr>
          <p:nvPr/>
        </p:nvCxnSpPr>
        <p:spPr>
          <a:xfrm rot="5400000">
            <a:off x="6104652" y="1735685"/>
            <a:ext cx="71692" cy="1133716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onector recto de flecha 30"/>
          <p:cNvCxnSpPr>
            <a:stCxn id="19" idx="4"/>
            <a:endCxn id="5" idx="0"/>
          </p:cNvCxnSpPr>
          <p:nvPr/>
        </p:nvCxnSpPr>
        <p:spPr>
          <a:xfrm>
            <a:off x="10515601" y="2209546"/>
            <a:ext cx="0" cy="34783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Conector angular 37"/>
          <p:cNvCxnSpPr>
            <a:stCxn id="5" idx="1"/>
            <a:endCxn id="18" idx="0"/>
          </p:cNvCxnSpPr>
          <p:nvPr/>
        </p:nvCxnSpPr>
        <p:spPr>
          <a:xfrm rot="10800000" flipV="1">
            <a:off x="8237914" y="2716461"/>
            <a:ext cx="761709" cy="599909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Conector angular 41"/>
          <p:cNvCxnSpPr>
            <a:stCxn id="5" idx="2"/>
            <a:endCxn id="17" idx="0"/>
          </p:cNvCxnSpPr>
          <p:nvPr/>
        </p:nvCxnSpPr>
        <p:spPr>
          <a:xfrm rot="16200000" flipH="1">
            <a:off x="10500534" y="2890613"/>
            <a:ext cx="440824" cy="410691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Conector recto de flecha 43"/>
          <p:cNvCxnSpPr>
            <a:stCxn id="17" idx="4"/>
            <a:endCxn id="15" idx="0"/>
          </p:cNvCxnSpPr>
          <p:nvPr/>
        </p:nvCxnSpPr>
        <p:spPr>
          <a:xfrm>
            <a:off x="10926292" y="3870827"/>
            <a:ext cx="0" cy="3510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Conector angular 45"/>
          <p:cNvCxnSpPr/>
          <p:nvPr/>
        </p:nvCxnSpPr>
        <p:spPr>
          <a:xfrm rot="10800000" flipV="1">
            <a:off x="7148755" y="3565023"/>
            <a:ext cx="727961" cy="886827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Conector recto de flecha 47"/>
          <p:cNvCxnSpPr>
            <a:stCxn id="3" idx="1"/>
            <a:endCxn id="16" idx="6"/>
          </p:cNvCxnSpPr>
          <p:nvPr/>
        </p:nvCxnSpPr>
        <p:spPr>
          <a:xfrm flipH="1" flipV="1">
            <a:off x="4881874" y="4654214"/>
            <a:ext cx="586899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Conector angular 50"/>
          <p:cNvCxnSpPr>
            <a:stCxn id="3" idx="3"/>
            <a:endCxn id="11" idx="6"/>
          </p:cNvCxnSpPr>
          <p:nvPr/>
        </p:nvCxnSpPr>
        <p:spPr>
          <a:xfrm flipH="1">
            <a:off x="8237913" y="4654215"/>
            <a:ext cx="590824" cy="840538"/>
          </a:xfrm>
          <a:prstGeom prst="bentConnector3">
            <a:avLst>
              <a:gd name="adj1" fmla="val -38692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Conector angular 52"/>
          <p:cNvCxnSpPr>
            <a:stCxn id="11" idx="2"/>
            <a:endCxn id="12" idx="0"/>
          </p:cNvCxnSpPr>
          <p:nvPr/>
        </p:nvCxnSpPr>
        <p:spPr>
          <a:xfrm rot="10800000" flipV="1">
            <a:off x="6996433" y="5494753"/>
            <a:ext cx="519087" cy="544268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Conector angular 56"/>
          <p:cNvCxnSpPr>
            <a:stCxn id="16" idx="4"/>
          </p:cNvCxnSpPr>
          <p:nvPr/>
        </p:nvCxnSpPr>
        <p:spPr>
          <a:xfrm rot="5400000">
            <a:off x="3785348" y="4927615"/>
            <a:ext cx="765675" cy="773329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95512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/>
          <p:cNvSpPr/>
          <p:nvPr/>
        </p:nvSpPr>
        <p:spPr>
          <a:xfrm>
            <a:off x="7377367" y="5296605"/>
            <a:ext cx="3689689" cy="45450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Confirmar funcionamiento del cilindro </a:t>
            </a:r>
            <a:endParaRPr lang="es-MX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Elipse 2"/>
          <p:cNvSpPr/>
          <p:nvPr/>
        </p:nvSpPr>
        <p:spPr>
          <a:xfrm>
            <a:off x="8775032" y="-2903621"/>
            <a:ext cx="45719" cy="4571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4" name="Elipse 3"/>
          <p:cNvSpPr/>
          <p:nvPr/>
        </p:nvSpPr>
        <p:spPr>
          <a:xfrm>
            <a:off x="7704531" y="3796603"/>
            <a:ext cx="689810" cy="577516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No</a:t>
            </a:r>
            <a:endParaRPr lang="es-MX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Rectángulo 5"/>
          <p:cNvSpPr/>
          <p:nvPr/>
        </p:nvSpPr>
        <p:spPr>
          <a:xfrm>
            <a:off x="4469196" y="4073306"/>
            <a:ext cx="2110873" cy="247289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Posible causa: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Baja presión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Conexión floja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Filtro tapado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Flujo insuficiente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MX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Acción correctiva: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Revisar presión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Limpiar filtro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Revisar flujo </a:t>
            </a:r>
            <a:endParaRPr lang="es-MX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Rectángulo 6"/>
          <p:cNvSpPr/>
          <p:nvPr/>
        </p:nvSpPr>
        <p:spPr>
          <a:xfrm>
            <a:off x="618912" y="2600765"/>
            <a:ext cx="2725822" cy="243840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Posible causa: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Pistón atorado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Suciedad interna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Poca lubricación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Partes desgastadas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MX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Acción correctiva: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Limpiar cilindro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Lubricar componentes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Revisar desgastes </a:t>
            </a:r>
            <a:endParaRPr lang="es-MX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Rectángulo 7"/>
          <p:cNvSpPr/>
          <p:nvPr/>
        </p:nvSpPr>
        <p:spPr>
          <a:xfrm>
            <a:off x="9222212" y="1491912"/>
            <a:ext cx="2469812" cy="2436396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endParaRPr lang="es-MX" sz="14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Posible causa: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Válvula dañada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Manguera doblada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Fuga en el sistema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Aire atrapado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MX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Acción correctiva: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Revisar válvula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Revisar mangueras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Reparar fugas  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endParaRPr lang="es-MX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Rectángulo 8"/>
          <p:cNvSpPr/>
          <p:nvPr/>
        </p:nvSpPr>
        <p:spPr>
          <a:xfrm>
            <a:off x="896351" y="629652"/>
            <a:ext cx="2576095" cy="376991"/>
          </a:xfrm>
          <a:prstGeom prst="rect">
            <a:avLst/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CILINDRO NO AVANZA </a:t>
            </a:r>
            <a:endParaRPr lang="es-MX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Elipse 9"/>
          <p:cNvSpPr/>
          <p:nvPr/>
        </p:nvSpPr>
        <p:spPr>
          <a:xfrm>
            <a:off x="3928254" y="2800118"/>
            <a:ext cx="711200" cy="568157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Sí</a:t>
            </a:r>
            <a:endParaRPr lang="es-MX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Elipse 14"/>
          <p:cNvSpPr/>
          <p:nvPr/>
        </p:nvSpPr>
        <p:spPr>
          <a:xfrm>
            <a:off x="1626223" y="1613860"/>
            <a:ext cx="711200" cy="527917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Sí</a:t>
            </a:r>
            <a:endParaRPr lang="es-MX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Elipse 15"/>
          <p:cNvSpPr/>
          <p:nvPr/>
        </p:nvSpPr>
        <p:spPr>
          <a:xfrm>
            <a:off x="10101518" y="545763"/>
            <a:ext cx="711200" cy="568157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Sí</a:t>
            </a:r>
            <a:endParaRPr lang="es-MX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Elipse 16"/>
          <p:cNvSpPr/>
          <p:nvPr/>
        </p:nvSpPr>
        <p:spPr>
          <a:xfrm>
            <a:off x="6751789" y="1598711"/>
            <a:ext cx="689810" cy="529171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No</a:t>
            </a:r>
            <a:endParaRPr lang="es-MX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Elipse 17"/>
          <p:cNvSpPr/>
          <p:nvPr/>
        </p:nvSpPr>
        <p:spPr>
          <a:xfrm>
            <a:off x="4523874" y="529389"/>
            <a:ext cx="689810" cy="577516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No</a:t>
            </a:r>
            <a:endParaRPr lang="es-MX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Rectángulo 18"/>
          <p:cNvSpPr/>
          <p:nvPr/>
        </p:nvSpPr>
        <p:spPr>
          <a:xfrm>
            <a:off x="5213684" y="2865866"/>
            <a:ext cx="3465765" cy="425278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MX" sz="1400" smtClean="0"/>
              <a:t>¿La válvula de control activa correctamente?</a:t>
            </a:r>
            <a:endParaRPr lang="es-MX" sz="1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Rectángulo 19"/>
          <p:cNvSpPr/>
          <p:nvPr/>
        </p:nvSpPr>
        <p:spPr>
          <a:xfrm>
            <a:off x="3088104" y="1633981"/>
            <a:ext cx="3092786" cy="487676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MX" sz="1400" dirty="0" smtClean="0"/>
              <a:t>¿El cilindro hace ruido o intenta moverse?</a:t>
            </a:r>
            <a:endParaRPr lang="es-MX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Rectángulo 20"/>
          <p:cNvSpPr/>
          <p:nvPr/>
        </p:nvSpPr>
        <p:spPr>
          <a:xfrm>
            <a:off x="5982369" y="629652"/>
            <a:ext cx="3544235" cy="413417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MX" sz="1400" smtClean="0"/>
              <a:t>¿Hay presión de aire o aceite en el sistema?</a:t>
            </a:r>
            <a:endParaRPr lang="es-MX" sz="1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23" name="Conector recto de flecha 22"/>
          <p:cNvCxnSpPr>
            <a:stCxn id="21" idx="1"/>
            <a:endCxn id="18" idx="6"/>
          </p:cNvCxnSpPr>
          <p:nvPr/>
        </p:nvCxnSpPr>
        <p:spPr>
          <a:xfrm flipH="1" flipV="1">
            <a:off x="5213684" y="818147"/>
            <a:ext cx="768685" cy="1821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ector recto de flecha 24"/>
          <p:cNvCxnSpPr>
            <a:stCxn id="21" idx="3"/>
            <a:endCxn id="16" idx="2"/>
          </p:cNvCxnSpPr>
          <p:nvPr/>
        </p:nvCxnSpPr>
        <p:spPr>
          <a:xfrm flipV="1">
            <a:off x="9526604" y="829842"/>
            <a:ext cx="574914" cy="651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onector recto de flecha 30"/>
          <p:cNvCxnSpPr>
            <a:stCxn id="16" idx="4"/>
            <a:endCxn id="8" idx="0"/>
          </p:cNvCxnSpPr>
          <p:nvPr/>
        </p:nvCxnSpPr>
        <p:spPr>
          <a:xfrm>
            <a:off x="10457118" y="1113920"/>
            <a:ext cx="0" cy="37799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Conector recto de flecha 32"/>
          <p:cNvCxnSpPr/>
          <p:nvPr/>
        </p:nvCxnSpPr>
        <p:spPr>
          <a:xfrm>
            <a:off x="4589467" y="1022330"/>
            <a:ext cx="9603" cy="61165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Conector recto de flecha 37"/>
          <p:cNvCxnSpPr>
            <a:stCxn id="20" idx="1"/>
            <a:endCxn id="15" idx="6"/>
          </p:cNvCxnSpPr>
          <p:nvPr/>
        </p:nvCxnSpPr>
        <p:spPr>
          <a:xfrm flipH="1">
            <a:off x="2337423" y="1877819"/>
            <a:ext cx="75068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Conector recto de flecha 39"/>
          <p:cNvCxnSpPr>
            <a:stCxn id="20" idx="3"/>
            <a:endCxn id="17" idx="2"/>
          </p:cNvCxnSpPr>
          <p:nvPr/>
        </p:nvCxnSpPr>
        <p:spPr>
          <a:xfrm flipV="1">
            <a:off x="6180890" y="1863297"/>
            <a:ext cx="570899" cy="1452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Conector recto de flecha 48"/>
          <p:cNvCxnSpPr>
            <a:stCxn id="17" idx="4"/>
          </p:cNvCxnSpPr>
          <p:nvPr/>
        </p:nvCxnSpPr>
        <p:spPr>
          <a:xfrm>
            <a:off x="7096694" y="2127882"/>
            <a:ext cx="0" cy="73798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Conector recto de flecha 50"/>
          <p:cNvCxnSpPr>
            <a:stCxn id="15" idx="4"/>
            <a:endCxn id="7" idx="0"/>
          </p:cNvCxnSpPr>
          <p:nvPr/>
        </p:nvCxnSpPr>
        <p:spPr>
          <a:xfrm>
            <a:off x="1981823" y="2141777"/>
            <a:ext cx="0" cy="4589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Conector angular 57"/>
          <p:cNvCxnSpPr>
            <a:stCxn id="10" idx="4"/>
            <a:endCxn id="6" idx="0"/>
          </p:cNvCxnSpPr>
          <p:nvPr/>
        </p:nvCxnSpPr>
        <p:spPr>
          <a:xfrm rot="16200000" flipH="1">
            <a:off x="4551728" y="3100400"/>
            <a:ext cx="705031" cy="1240779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Conector recto de flecha 62"/>
          <p:cNvCxnSpPr>
            <a:stCxn id="19" idx="1"/>
            <a:endCxn id="10" idx="6"/>
          </p:cNvCxnSpPr>
          <p:nvPr/>
        </p:nvCxnSpPr>
        <p:spPr>
          <a:xfrm flipH="1">
            <a:off x="4639454" y="3078505"/>
            <a:ext cx="574230" cy="569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Conector angular 76"/>
          <p:cNvCxnSpPr>
            <a:stCxn id="4" idx="4"/>
            <a:endCxn id="2" idx="0"/>
          </p:cNvCxnSpPr>
          <p:nvPr/>
        </p:nvCxnSpPr>
        <p:spPr>
          <a:xfrm rot="16200000" flipH="1">
            <a:off x="8174581" y="4248974"/>
            <a:ext cx="922486" cy="1172776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Conector angular 79"/>
          <p:cNvCxnSpPr>
            <a:stCxn id="19" idx="3"/>
            <a:endCxn id="4" idx="0"/>
          </p:cNvCxnSpPr>
          <p:nvPr/>
        </p:nvCxnSpPr>
        <p:spPr>
          <a:xfrm flipH="1">
            <a:off x="8049436" y="3078505"/>
            <a:ext cx="630013" cy="718098"/>
          </a:xfrm>
          <a:prstGeom prst="bentConnector4">
            <a:avLst>
              <a:gd name="adj1" fmla="val -36285"/>
              <a:gd name="adj2" fmla="val 64806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653748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/>
          <p:cNvSpPr/>
          <p:nvPr/>
        </p:nvSpPr>
        <p:spPr>
          <a:xfrm>
            <a:off x="1222005" y="2766663"/>
            <a:ext cx="2911642" cy="372979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¿La presión sube muy lento?</a:t>
            </a:r>
            <a:endParaRPr lang="es-MX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Rectángulo 2"/>
          <p:cNvSpPr/>
          <p:nvPr/>
        </p:nvSpPr>
        <p:spPr>
          <a:xfrm>
            <a:off x="2352576" y="1677204"/>
            <a:ext cx="3705726" cy="378993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¿Se escuchan ruidos extraños en la bomba?</a:t>
            </a:r>
            <a:endParaRPr lang="es-MX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Rectángulo 3"/>
          <p:cNvSpPr/>
          <p:nvPr/>
        </p:nvSpPr>
        <p:spPr>
          <a:xfrm>
            <a:off x="5835316" y="602781"/>
            <a:ext cx="4116404" cy="402257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¿La bomba tiene suficiente aceite o fluido?</a:t>
            </a:r>
            <a:endParaRPr lang="es-MX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Rectángulo 5"/>
          <p:cNvSpPr/>
          <p:nvPr/>
        </p:nvSpPr>
        <p:spPr>
          <a:xfrm>
            <a:off x="6681536" y="5624164"/>
            <a:ext cx="2959769" cy="523976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Revisar que la presión sea normal </a:t>
            </a:r>
          </a:p>
        </p:txBody>
      </p:sp>
      <p:sp>
        <p:nvSpPr>
          <p:cNvPr id="7" name="Rectángulo 6"/>
          <p:cNvSpPr/>
          <p:nvPr/>
        </p:nvSpPr>
        <p:spPr>
          <a:xfrm>
            <a:off x="753175" y="489285"/>
            <a:ext cx="2710316" cy="409073"/>
          </a:xfrm>
          <a:prstGeom prst="rect">
            <a:avLst/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BOMBA SIN PRESIÓN </a:t>
            </a:r>
            <a:endParaRPr lang="es-MX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Elipse 7"/>
          <p:cNvSpPr/>
          <p:nvPr/>
        </p:nvSpPr>
        <p:spPr>
          <a:xfrm>
            <a:off x="8791074" y="-2743200"/>
            <a:ext cx="45719" cy="4571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9" name="Elipse 8"/>
          <p:cNvSpPr/>
          <p:nvPr/>
        </p:nvSpPr>
        <p:spPr>
          <a:xfrm>
            <a:off x="3780721" y="3724170"/>
            <a:ext cx="705852" cy="457200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Sí</a:t>
            </a:r>
            <a:endParaRPr lang="es-MX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Elipse 9"/>
          <p:cNvSpPr/>
          <p:nvPr/>
        </p:nvSpPr>
        <p:spPr>
          <a:xfrm>
            <a:off x="4770519" y="5006335"/>
            <a:ext cx="834190" cy="414692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No</a:t>
            </a:r>
            <a:endParaRPr lang="es-MX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Rectángulo 16"/>
          <p:cNvSpPr/>
          <p:nvPr/>
        </p:nvSpPr>
        <p:spPr>
          <a:xfrm>
            <a:off x="713881" y="3757054"/>
            <a:ext cx="2205790" cy="2363803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Posible causa: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Baja presión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Manguera floja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Válvula dañada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Fuga interna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MX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Acción correctiva: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Revisar presión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Revisar válvula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Revisar fugas</a:t>
            </a:r>
          </a:p>
        </p:txBody>
      </p:sp>
      <p:sp>
        <p:nvSpPr>
          <p:cNvPr id="18" name="Rectángulo 17"/>
          <p:cNvSpPr/>
          <p:nvPr/>
        </p:nvSpPr>
        <p:spPr>
          <a:xfrm>
            <a:off x="6158159" y="2442006"/>
            <a:ext cx="2441609" cy="2564329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Posible causa: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Aire en el sistema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Bomba desgastada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Filtro tapado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Partes dañadas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MX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Acción correctiva: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Purgar sistema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Revisar bomba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Revisar piezas dañadas </a:t>
            </a:r>
          </a:p>
        </p:txBody>
      </p:sp>
      <p:sp>
        <p:nvSpPr>
          <p:cNvPr id="19" name="Rectángulo 18"/>
          <p:cNvSpPr/>
          <p:nvPr/>
        </p:nvSpPr>
        <p:spPr>
          <a:xfrm>
            <a:off x="9920438" y="1399674"/>
            <a:ext cx="1907407" cy="2707905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Posible causa: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Falta de aceite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Fuga de fluido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Nivel bajo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Sistema vacío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MX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Acción correctiva: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Agregar aceite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Revisar fugas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Revisar depósito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Llenar sistema  </a:t>
            </a:r>
          </a:p>
        </p:txBody>
      </p:sp>
      <p:sp>
        <p:nvSpPr>
          <p:cNvPr id="20" name="Elipse 19"/>
          <p:cNvSpPr/>
          <p:nvPr/>
        </p:nvSpPr>
        <p:spPr>
          <a:xfrm>
            <a:off x="7026038" y="1638100"/>
            <a:ext cx="705852" cy="457200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Sí</a:t>
            </a:r>
            <a:endParaRPr lang="es-MX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Elipse 20"/>
          <p:cNvSpPr/>
          <p:nvPr/>
        </p:nvSpPr>
        <p:spPr>
          <a:xfrm>
            <a:off x="4296477" y="575309"/>
            <a:ext cx="705852" cy="457200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Sí</a:t>
            </a:r>
            <a:endParaRPr lang="es-MX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Elipse 21"/>
          <p:cNvSpPr/>
          <p:nvPr/>
        </p:nvSpPr>
        <p:spPr>
          <a:xfrm>
            <a:off x="621633" y="1645324"/>
            <a:ext cx="730720" cy="443960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No</a:t>
            </a:r>
            <a:endParaRPr lang="es-MX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Elipse 22"/>
          <p:cNvSpPr/>
          <p:nvPr/>
        </p:nvSpPr>
        <p:spPr>
          <a:xfrm>
            <a:off x="10549289" y="609201"/>
            <a:ext cx="649704" cy="395437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No</a:t>
            </a:r>
            <a:endParaRPr lang="es-MX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29" name="Conector recto de flecha 28"/>
          <p:cNvCxnSpPr>
            <a:stCxn id="4" idx="3"/>
            <a:endCxn id="23" idx="2"/>
          </p:cNvCxnSpPr>
          <p:nvPr/>
        </p:nvCxnSpPr>
        <p:spPr>
          <a:xfrm>
            <a:off x="9951720" y="803910"/>
            <a:ext cx="597569" cy="301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Conector recto de flecha 32"/>
          <p:cNvCxnSpPr>
            <a:stCxn id="4" idx="1"/>
            <a:endCxn id="21" idx="6"/>
          </p:cNvCxnSpPr>
          <p:nvPr/>
        </p:nvCxnSpPr>
        <p:spPr>
          <a:xfrm flipH="1" flipV="1">
            <a:off x="5002329" y="803909"/>
            <a:ext cx="832987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Conector recto de flecha 43"/>
          <p:cNvCxnSpPr>
            <a:stCxn id="23" idx="4"/>
            <a:endCxn id="19" idx="0"/>
          </p:cNvCxnSpPr>
          <p:nvPr/>
        </p:nvCxnSpPr>
        <p:spPr>
          <a:xfrm>
            <a:off x="10874141" y="1004638"/>
            <a:ext cx="1" cy="39503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Conector angular 52"/>
          <p:cNvCxnSpPr>
            <a:stCxn id="21" idx="2"/>
            <a:endCxn id="3" idx="0"/>
          </p:cNvCxnSpPr>
          <p:nvPr/>
        </p:nvCxnSpPr>
        <p:spPr>
          <a:xfrm rot="10800000" flipV="1">
            <a:off x="4205439" y="803908"/>
            <a:ext cx="91038" cy="873295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Conector recto de flecha 54"/>
          <p:cNvCxnSpPr>
            <a:stCxn id="3" idx="1"/>
            <a:endCxn id="22" idx="6"/>
          </p:cNvCxnSpPr>
          <p:nvPr/>
        </p:nvCxnSpPr>
        <p:spPr>
          <a:xfrm flipH="1">
            <a:off x="1352353" y="1866701"/>
            <a:ext cx="1000223" cy="60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Conector recto de flecha 56"/>
          <p:cNvCxnSpPr>
            <a:stCxn id="3" idx="3"/>
            <a:endCxn id="20" idx="2"/>
          </p:cNvCxnSpPr>
          <p:nvPr/>
        </p:nvCxnSpPr>
        <p:spPr>
          <a:xfrm flipV="1">
            <a:off x="6058302" y="1866700"/>
            <a:ext cx="967736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Conector recto de flecha 61"/>
          <p:cNvCxnSpPr>
            <a:stCxn id="20" idx="4"/>
            <a:endCxn id="18" idx="0"/>
          </p:cNvCxnSpPr>
          <p:nvPr/>
        </p:nvCxnSpPr>
        <p:spPr>
          <a:xfrm>
            <a:off x="7378964" y="2095300"/>
            <a:ext cx="0" cy="34670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Conector angular 64"/>
          <p:cNvCxnSpPr>
            <a:stCxn id="22" idx="4"/>
            <a:endCxn id="2" idx="1"/>
          </p:cNvCxnSpPr>
          <p:nvPr/>
        </p:nvCxnSpPr>
        <p:spPr>
          <a:xfrm rot="16200000" flipH="1">
            <a:off x="672565" y="2403712"/>
            <a:ext cx="863869" cy="235012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Conector angular 66"/>
          <p:cNvCxnSpPr>
            <a:stCxn id="2" idx="3"/>
            <a:endCxn id="10" idx="0"/>
          </p:cNvCxnSpPr>
          <p:nvPr/>
        </p:nvCxnSpPr>
        <p:spPr>
          <a:xfrm>
            <a:off x="4133647" y="2953153"/>
            <a:ext cx="1053967" cy="2053182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Conector angular 68"/>
          <p:cNvCxnSpPr>
            <a:stCxn id="10" idx="4"/>
            <a:endCxn id="6" idx="1"/>
          </p:cNvCxnSpPr>
          <p:nvPr/>
        </p:nvCxnSpPr>
        <p:spPr>
          <a:xfrm rot="16200000" flipH="1">
            <a:off x="5702013" y="4906628"/>
            <a:ext cx="465125" cy="1493922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Conector angular 70"/>
          <p:cNvCxnSpPr/>
          <p:nvPr/>
        </p:nvCxnSpPr>
        <p:spPr>
          <a:xfrm rot="5400000" flipH="1" flipV="1">
            <a:off x="10209696" y="-2846770"/>
            <a:ext cx="98059" cy="16443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Conector angular 74"/>
          <p:cNvCxnSpPr/>
          <p:nvPr/>
        </p:nvCxnSpPr>
        <p:spPr>
          <a:xfrm rot="10800000" flipV="1">
            <a:off x="2919671" y="3966201"/>
            <a:ext cx="861050" cy="986186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Conector angular 80"/>
          <p:cNvCxnSpPr>
            <a:stCxn id="9" idx="6"/>
            <a:endCxn id="2" idx="3"/>
          </p:cNvCxnSpPr>
          <p:nvPr/>
        </p:nvCxnSpPr>
        <p:spPr>
          <a:xfrm flipH="1" flipV="1">
            <a:off x="4133647" y="2953153"/>
            <a:ext cx="352926" cy="999617"/>
          </a:xfrm>
          <a:prstGeom prst="bentConnector3">
            <a:avLst>
              <a:gd name="adj1" fmla="val -64773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814162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/>
          <p:cNvSpPr/>
          <p:nvPr/>
        </p:nvSpPr>
        <p:spPr>
          <a:xfrm>
            <a:off x="2611692" y="3079620"/>
            <a:ext cx="3459422" cy="523006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Monitorear temperatura y vibración </a:t>
            </a:r>
            <a:endParaRPr lang="es-MX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Rectángulo 2"/>
          <p:cNvSpPr/>
          <p:nvPr/>
        </p:nvSpPr>
        <p:spPr>
          <a:xfrm>
            <a:off x="6468112" y="2173117"/>
            <a:ext cx="2580290" cy="2547653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Posible causa:</a:t>
            </a:r>
            <a:endParaRPr lang="es-MX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Sobrecarga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Mala ventilación</a:t>
            </a:r>
            <a:endParaRPr lang="es-MX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Exceso de trabajo</a:t>
            </a:r>
            <a:endParaRPr lang="es-MX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Suciedad acumulada</a:t>
            </a:r>
            <a:b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s-MX" sz="14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Acción correctiva: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Limpiar ventilación</a:t>
            </a:r>
            <a:endParaRPr lang="es-MX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Reducir carga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Dejar enfriar motor</a:t>
            </a:r>
            <a:endParaRPr lang="es-MX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Limpiar suciedad</a:t>
            </a:r>
            <a:endParaRPr lang="es-MX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Rectángulo 3"/>
          <p:cNvSpPr/>
          <p:nvPr/>
        </p:nvSpPr>
        <p:spPr>
          <a:xfrm>
            <a:off x="606792" y="3931249"/>
            <a:ext cx="2538388" cy="2647721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Posible causa: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Rodamientos dañados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Piezas flojas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Componentes fuera de posición </a:t>
            </a:r>
            <a:endParaRPr lang="es-MX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Falta de lubricación</a:t>
            </a:r>
            <a:endParaRPr lang="es-MX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s-MX" sz="14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Acción correctiva: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Revisar rodamientos</a:t>
            </a:r>
            <a:endParaRPr lang="es-MX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Ajustar piezas</a:t>
            </a:r>
            <a:endParaRPr lang="es-MX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Revisar alineación</a:t>
            </a:r>
            <a:endParaRPr lang="es-MX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Agregar lubricación</a:t>
            </a:r>
            <a:endParaRPr lang="es-MX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Rectángulo 4"/>
          <p:cNvSpPr/>
          <p:nvPr/>
        </p:nvSpPr>
        <p:spPr>
          <a:xfrm>
            <a:off x="5577906" y="5894179"/>
            <a:ext cx="3022142" cy="401668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¿El motor se calienta demasiado?</a:t>
            </a:r>
            <a:endParaRPr lang="es-MX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Rectángulo 5"/>
          <p:cNvSpPr/>
          <p:nvPr/>
        </p:nvSpPr>
        <p:spPr>
          <a:xfrm>
            <a:off x="9084846" y="1338108"/>
            <a:ext cx="2939162" cy="402896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¿Se escuchan golpes o vibración?</a:t>
            </a:r>
            <a:endParaRPr lang="es-MX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Rectángulo 6"/>
          <p:cNvSpPr/>
          <p:nvPr/>
        </p:nvSpPr>
        <p:spPr>
          <a:xfrm>
            <a:off x="4392137" y="1300600"/>
            <a:ext cx="3308825" cy="465163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¿El motor presenta un zumbido anormal?</a:t>
            </a:r>
            <a:endParaRPr lang="es-MX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Rectángulo 7"/>
          <p:cNvSpPr/>
          <p:nvPr/>
        </p:nvSpPr>
        <p:spPr>
          <a:xfrm>
            <a:off x="350848" y="302919"/>
            <a:ext cx="2573375" cy="2460528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Posible causa: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Falta de voltaje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Contactor dañado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Capacitor dañado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Sobrecarga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MX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Acción correctiva: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Revisar capacitor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Revisar contactor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Revisar carga del motor  </a:t>
            </a:r>
          </a:p>
        </p:txBody>
      </p:sp>
      <p:sp>
        <p:nvSpPr>
          <p:cNvPr id="9" name="Rectángulo 8"/>
          <p:cNvSpPr/>
          <p:nvPr/>
        </p:nvSpPr>
        <p:spPr>
          <a:xfrm>
            <a:off x="4685953" y="373045"/>
            <a:ext cx="2835304" cy="411702"/>
          </a:xfrm>
          <a:prstGeom prst="rect">
            <a:avLst/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RUIDO EN MOTOR </a:t>
            </a:r>
            <a:endParaRPr lang="es-MX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Elipse 10"/>
          <p:cNvSpPr/>
          <p:nvPr/>
        </p:nvSpPr>
        <p:spPr>
          <a:xfrm>
            <a:off x="5008117" y="4357013"/>
            <a:ext cx="623429" cy="540177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No</a:t>
            </a:r>
            <a:endParaRPr lang="es-MX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Elipse 11"/>
          <p:cNvSpPr/>
          <p:nvPr/>
        </p:nvSpPr>
        <p:spPr>
          <a:xfrm>
            <a:off x="4374594" y="5851201"/>
            <a:ext cx="557048" cy="484304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Sí</a:t>
            </a:r>
            <a:endParaRPr lang="es-MX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Elipse 13"/>
          <p:cNvSpPr/>
          <p:nvPr/>
        </p:nvSpPr>
        <p:spPr>
          <a:xfrm>
            <a:off x="9977446" y="3204791"/>
            <a:ext cx="557048" cy="484304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Sí</a:t>
            </a:r>
            <a:endParaRPr lang="es-MX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Elipse 14"/>
          <p:cNvSpPr/>
          <p:nvPr/>
        </p:nvSpPr>
        <p:spPr>
          <a:xfrm>
            <a:off x="3314132" y="1294055"/>
            <a:ext cx="652089" cy="491001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Sí</a:t>
            </a:r>
            <a:endParaRPr lang="es-MX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Elipse 15"/>
          <p:cNvSpPr/>
          <p:nvPr/>
        </p:nvSpPr>
        <p:spPr>
          <a:xfrm>
            <a:off x="9354017" y="5824925"/>
            <a:ext cx="623429" cy="540177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No</a:t>
            </a:r>
            <a:endParaRPr lang="es-MX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Elipse 16"/>
          <p:cNvSpPr/>
          <p:nvPr/>
        </p:nvSpPr>
        <p:spPr>
          <a:xfrm>
            <a:off x="8109873" y="1263094"/>
            <a:ext cx="623429" cy="540177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MX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No</a:t>
            </a:r>
            <a:endParaRPr lang="es-MX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20" name="Conector recto de flecha 19"/>
          <p:cNvCxnSpPr>
            <a:stCxn id="7" idx="1"/>
            <a:endCxn id="15" idx="6"/>
          </p:cNvCxnSpPr>
          <p:nvPr/>
        </p:nvCxnSpPr>
        <p:spPr>
          <a:xfrm flipH="1">
            <a:off x="3966221" y="1533182"/>
            <a:ext cx="425916" cy="637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ector recto de flecha 21"/>
          <p:cNvCxnSpPr>
            <a:stCxn id="7" idx="3"/>
            <a:endCxn id="17" idx="2"/>
          </p:cNvCxnSpPr>
          <p:nvPr/>
        </p:nvCxnSpPr>
        <p:spPr>
          <a:xfrm>
            <a:off x="7700962" y="1533182"/>
            <a:ext cx="408911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ector recto de flecha 23"/>
          <p:cNvCxnSpPr>
            <a:stCxn id="17" idx="6"/>
            <a:endCxn id="6" idx="1"/>
          </p:cNvCxnSpPr>
          <p:nvPr/>
        </p:nvCxnSpPr>
        <p:spPr>
          <a:xfrm>
            <a:off x="8733302" y="1533183"/>
            <a:ext cx="351544" cy="637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ector recto de flecha 25"/>
          <p:cNvCxnSpPr>
            <a:stCxn id="15" idx="2"/>
            <a:endCxn id="8" idx="3"/>
          </p:cNvCxnSpPr>
          <p:nvPr/>
        </p:nvCxnSpPr>
        <p:spPr>
          <a:xfrm flipH="1" flipV="1">
            <a:off x="2924223" y="1533183"/>
            <a:ext cx="389909" cy="637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Conector angular 60"/>
          <p:cNvCxnSpPr>
            <a:stCxn id="6" idx="2"/>
            <a:endCxn id="14" idx="6"/>
          </p:cNvCxnSpPr>
          <p:nvPr/>
        </p:nvCxnSpPr>
        <p:spPr>
          <a:xfrm rot="5400000">
            <a:off x="9691492" y="2584007"/>
            <a:ext cx="1705939" cy="19933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Conector recto de flecha 73"/>
          <p:cNvCxnSpPr>
            <a:stCxn id="16" idx="2"/>
            <a:endCxn id="5" idx="3"/>
          </p:cNvCxnSpPr>
          <p:nvPr/>
        </p:nvCxnSpPr>
        <p:spPr>
          <a:xfrm flipH="1" flipV="1">
            <a:off x="8600048" y="6095013"/>
            <a:ext cx="753969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Conector recto de flecha 77"/>
          <p:cNvCxnSpPr>
            <a:stCxn id="5" idx="1"/>
            <a:endCxn id="12" idx="6"/>
          </p:cNvCxnSpPr>
          <p:nvPr/>
        </p:nvCxnSpPr>
        <p:spPr>
          <a:xfrm flipH="1" flipV="1">
            <a:off x="4931642" y="6093353"/>
            <a:ext cx="646264" cy="166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Conector angular 79"/>
          <p:cNvCxnSpPr>
            <a:stCxn id="12" idx="2"/>
          </p:cNvCxnSpPr>
          <p:nvPr/>
        </p:nvCxnSpPr>
        <p:spPr>
          <a:xfrm rot="10800000">
            <a:off x="3145180" y="5290873"/>
            <a:ext cx="1229414" cy="802480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Conector recto de flecha 86"/>
          <p:cNvCxnSpPr>
            <a:stCxn id="14" idx="2"/>
            <a:endCxn id="3" idx="3"/>
          </p:cNvCxnSpPr>
          <p:nvPr/>
        </p:nvCxnSpPr>
        <p:spPr>
          <a:xfrm flipH="1">
            <a:off x="9048402" y="3446943"/>
            <a:ext cx="929044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Conector angular 90"/>
          <p:cNvCxnSpPr>
            <a:stCxn id="6" idx="2"/>
            <a:endCxn id="16" idx="6"/>
          </p:cNvCxnSpPr>
          <p:nvPr/>
        </p:nvCxnSpPr>
        <p:spPr>
          <a:xfrm rot="5400000">
            <a:off x="8088932" y="3629519"/>
            <a:ext cx="4354010" cy="576981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Conector angular 92"/>
          <p:cNvCxnSpPr>
            <a:stCxn id="11" idx="4"/>
            <a:endCxn id="5" idx="0"/>
          </p:cNvCxnSpPr>
          <p:nvPr/>
        </p:nvCxnSpPr>
        <p:spPr>
          <a:xfrm rot="16200000" flipH="1">
            <a:off x="5705910" y="4511111"/>
            <a:ext cx="996989" cy="1769145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Conector angular 96"/>
          <p:cNvCxnSpPr>
            <a:stCxn id="11" idx="0"/>
            <a:endCxn id="2" idx="2"/>
          </p:cNvCxnSpPr>
          <p:nvPr/>
        </p:nvCxnSpPr>
        <p:spPr>
          <a:xfrm rot="16200000" flipV="1">
            <a:off x="4453425" y="3490605"/>
            <a:ext cx="754387" cy="978429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159563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6117</TotalTime>
  <Words>1041</Words>
  <Application>Microsoft Office PowerPoint</Application>
  <PresentationFormat>Panorámica</PresentationFormat>
  <Paragraphs>413</Paragraphs>
  <Slides>10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re</dc:creator>
  <cp:lastModifiedBy>re</cp:lastModifiedBy>
  <cp:revision>70</cp:revision>
  <dcterms:created xsi:type="dcterms:W3CDTF">2026-05-15T18:27:29Z</dcterms:created>
  <dcterms:modified xsi:type="dcterms:W3CDTF">2026-05-26T17:05:19Z</dcterms:modified>
</cp:coreProperties>
</file>